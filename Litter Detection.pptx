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14"/>
  </p:notesMasterIdLst>
  <p:sldIdLst>
    <p:sldId id="256" r:id="rId2"/>
    <p:sldId id="257" r:id="rId3"/>
    <p:sldId id="271" r:id="rId4"/>
    <p:sldId id="260" r:id="rId5"/>
    <p:sldId id="268" r:id="rId6"/>
    <p:sldId id="261" r:id="rId7"/>
    <p:sldId id="262" r:id="rId8"/>
    <p:sldId id="265" r:id="rId9"/>
    <p:sldId id="266" r:id="rId10"/>
    <p:sldId id="267" r:id="rId11"/>
    <p:sldId id="269" r:id="rId12"/>
    <p:sldId id="27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6A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94" d="100"/>
          <a:sy n="94" d="100"/>
        </p:scale>
        <p:origin x="-336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BD9E2C-1D18-4396-9B58-504D6475403D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EA70FF-B005-4A79-9C95-EB763B1B0B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7753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Orchastrator mit pipline</a:t>
            </a:r>
          </a:p>
          <a:p>
            <a:r>
              <a:t>Zenoh</a:t>
            </a:r>
          </a:p>
          <a:p>
            <a:r>
              <a:t>pydantic</a:t>
            </a:r>
          </a:p>
          <a:p>
            <a:endParaRPr/>
          </a:p>
          <a:p>
            <a:r>
              <a:t>……. </a:t>
            </a:r>
          </a:p>
          <a:p>
            <a:r>
              <a:t>Mit bildern noch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Sensorik</a:t>
            </a:r>
            <a:r>
              <a:rPr dirty="0"/>
              <a:t> → Inference → Pipeline &amp; </a:t>
            </a:r>
            <a:r>
              <a:rPr dirty="0" err="1"/>
              <a:t>Agenten</a:t>
            </a:r>
            <a:r>
              <a:rPr dirty="0"/>
              <a:t> → Navigation → Robodog – </a:t>
            </a:r>
            <a:r>
              <a:rPr dirty="0" err="1"/>
              <a:t>alles</a:t>
            </a:r>
            <a:r>
              <a:rPr dirty="0"/>
              <a:t> </a:t>
            </a:r>
            <a:r>
              <a:rPr dirty="0" err="1"/>
              <a:t>über</a:t>
            </a:r>
            <a:r>
              <a:rPr dirty="0"/>
              <a:t> den </a:t>
            </a:r>
            <a:r>
              <a:rPr dirty="0" err="1"/>
              <a:t>Zenoh</a:t>
            </a:r>
            <a:r>
              <a:rPr dirty="0"/>
              <a:t>-Bus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Einmal ausführlicher mit agent usw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T2_1 laufen der punkte (kann kürzer gehalten werden</a:t>
            </a:r>
          </a:p>
          <a:p>
            <a:r>
              <a:t>Model und interference task2_2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Task2_2 mit croppen, tracken und validierung llm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Wiederholdung</a:t>
            </a:r>
            <a:r>
              <a:rPr dirty="0"/>
              <a:t> task1, task3</a:t>
            </a:r>
            <a:r>
              <a:rPr lang="de-DE" dirty="0"/>
              <a:t>b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Laufen der punkte t5 ähnlich t2_1</a:t>
            </a:r>
          </a:p>
          <a:p>
            <a:r>
              <a:t>T6 geht mit ein, vissuelles Feedback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Evtl schwierigkeiten, probleme usw liesten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Model besser machen gerade für unschärfe</a:t>
            </a:r>
          </a:p>
          <a:p>
            <a:r>
              <a:t>Tiefenwerte nehmen für positionsbestimmung Müll</a:t>
            </a:r>
          </a:p>
          <a:p>
            <a:r>
              <a:t>Hund Schaut in richtung müll wenn emote</a:t>
            </a:r>
          </a:p>
          <a:p>
            <a:r>
              <a:t>Obsticale avoidence damit hund net über müll läuft</a:t>
            </a:r>
          </a:p>
          <a:p>
            <a:r>
              <a:t>Mehr testen was für validierungsmodel passt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06F56F2F-050E-424A-A277-917ECE152A39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1182B1CF-6325-470C-AB83-A618B961D3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4711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56F2F-050E-424A-A277-917ECE152A39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2B1CF-6325-470C-AB83-A618B961D3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6922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56F2F-050E-424A-A277-917ECE152A39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2B1CF-6325-470C-AB83-A618B961D3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9671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56F2F-050E-424A-A277-917ECE152A39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2B1CF-6325-470C-AB83-A618B961D3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4479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56F2F-050E-424A-A277-917ECE152A39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2B1CF-6325-470C-AB83-A618B961D3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6416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56F2F-050E-424A-A277-917ECE152A39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2B1CF-6325-470C-AB83-A618B961D3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769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56F2F-050E-424A-A277-917ECE152A39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2B1CF-6325-470C-AB83-A618B961D3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908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56F2F-050E-424A-A277-917ECE152A39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2B1CF-6325-470C-AB83-A618B961D3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0218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56F2F-050E-424A-A277-917ECE152A39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2B1CF-6325-470C-AB83-A618B961D3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3999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56F2F-050E-424A-A277-917ECE152A39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2B1CF-6325-470C-AB83-A618B961D3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5292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56F2F-050E-424A-A277-917ECE152A39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2B1CF-6325-470C-AB83-A618B961D3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2662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56F2F-050E-424A-A277-917ECE152A39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2B1CF-6325-470C-AB83-A618B961D330}" type="slidenum">
              <a:rPr lang="de-DE" smtClean="0"/>
              <a:t>‹Nr.›</a:t>
            </a:fld>
            <a:endParaRPr lang="de-DE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61802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56F2F-050E-424A-A277-917ECE152A39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2B1CF-6325-470C-AB83-A618B961D3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33902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56F2F-050E-424A-A277-917ECE152A39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2B1CF-6325-470C-AB83-A618B961D3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85459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56F2F-050E-424A-A277-917ECE152A39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2B1CF-6325-470C-AB83-A618B961D3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69602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56F2F-050E-424A-A277-917ECE152A39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2B1CF-6325-470C-AB83-A618B961D3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60761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56F2F-050E-424A-A277-917ECE152A39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2B1CF-6325-470C-AB83-A618B961D3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5575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56F2F-050E-424A-A277-917ECE152A39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82B1CF-6325-470C-AB83-A618B961D3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75731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6ECFFA-3131-E1FC-5546-7B58DE91CB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Litter </a:t>
            </a:r>
            <a:r>
              <a:rPr lang="de-DE" dirty="0" err="1"/>
              <a:t>Detection</a:t>
            </a:r>
            <a:br>
              <a:rPr lang="de-DE" dirty="0"/>
            </a:br>
            <a:r>
              <a:rPr lang="de-DE" sz="2400" dirty="0"/>
              <a:t>Gruppe Daniel, Felix , Jonas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5AEB5F3-6330-5C5F-3084-F171B51303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1415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A02EF9-0557-9961-22E0-814155581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4F7E868-32F2-30A7-85B5-83F5CDD49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806311"/>
            <a:ext cx="9905999" cy="3541714"/>
          </a:xfrm>
        </p:spPr>
        <p:txBody>
          <a:bodyPr/>
          <a:lstStyle/>
          <a:p>
            <a:r>
              <a:rPr lang="de-DE" dirty="0"/>
              <a:t>Erste Idee und Planen der Tasks</a:t>
            </a:r>
          </a:p>
          <a:p>
            <a:r>
              <a:rPr lang="de-DE" dirty="0"/>
              <a:t>Gewählte Architektur</a:t>
            </a:r>
          </a:p>
          <a:p>
            <a:r>
              <a:rPr lang="de-DE" dirty="0"/>
              <a:t>Einzelne Tasks</a:t>
            </a:r>
          </a:p>
          <a:p>
            <a:r>
              <a:rPr lang="de-DE" dirty="0"/>
              <a:t>Reflektion zum Einsatz von KI</a:t>
            </a:r>
          </a:p>
          <a:p>
            <a:r>
              <a:rPr lang="de-DE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519084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321B92-77B4-CABF-0EA1-00B4495AC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Erste Idee und Planen der Tasks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5E2A92-C293-B796-FE28-3D45E6B15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System mit wenig warten auf Müllerkennung</a:t>
            </a:r>
          </a:p>
          <a:p>
            <a:r>
              <a:rPr lang="de-DE" dirty="0"/>
              <a:t>Zeit effektiv nutzen</a:t>
            </a:r>
          </a:p>
          <a:p>
            <a:r>
              <a:rPr lang="de-DE" dirty="0"/>
              <a:t>Human in </a:t>
            </a:r>
            <a:r>
              <a:rPr lang="de-DE" dirty="0" err="1"/>
              <a:t>the</a:t>
            </a:r>
            <a:r>
              <a:rPr lang="de-DE" dirty="0"/>
              <a:t> loop, Unitreego2 nur für Erkennung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D0A2449-5AD1-AF22-68A4-D9F6DAE64A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8690" y="1688677"/>
            <a:ext cx="3413104" cy="4550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546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0BE068-166D-9299-7987-2FCD19B8E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Gewählte Architektur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81A25EA-1FEB-F6FD-B3CD-E6FC13E39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03" y="1754444"/>
            <a:ext cx="10515600" cy="4351338"/>
          </a:xfrm>
        </p:spPr>
        <p:txBody>
          <a:bodyPr wrap="square"/>
          <a:lstStyle/>
          <a:p>
            <a:r>
              <a:rPr lang="de-DE" sz="2000" dirty="0"/>
              <a:t>Eventbasiert mit Mediator Topologie </a:t>
            </a:r>
            <a:r>
              <a:rPr sz="2000" dirty="0"/>
              <a:t>+ Pipeline</a:t>
            </a:r>
            <a:endParaRPr lang="de-DE" dirty="0"/>
          </a:p>
          <a:p>
            <a:r>
              <a:rPr sz="2000" dirty="0" err="1"/>
              <a:t>Zenoh</a:t>
            </a:r>
            <a:r>
              <a:rPr sz="2000" dirty="0"/>
              <a:t> </a:t>
            </a:r>
            <a:r>
              <a:rPr sz="2000" dirty="0" err="1"/>
              <a:t>als</a:t>
            </a:r>
            <a:r>
              <a:rPr sz="2000" dirty="0"/>
              <a:t> </a:t>
            </a:r>
            <a:r>
              <a:rPr lang="de-DE" sz="2000" dirty="0"/>
              <a:t>Event und Daten Messaging System</a:t>
            </a:r>
            <a:endParaRPr sz="2000" dirty="0"/>
          </a:p>
          <a:p>
            <a:r>
              <a:rPr sz="2000" dirty="0" err="1"/>
              <a:t>Pydantic</a:t>
            </a:r>
            <a:r>
              <a:rPr sz="2000" dirty="0"/>
              <a:t>-Modelle f</a:t>
            </a:r>
            <a:r>
              <a:rPr lang="de-DE" sz="2000" dirty="0"/>
              <a:t>ü</a:t>
            </a:r>
            <a:r>
              <a:rPr sz="2000" dirty="0"/>
              <a:t>r alle Topics und Task-Outputs</a:t>
            </a:r>
          </a:p>
          <a:p>
            <a:r>
              <a:rPr sz="2000" dirty="0"/>
              <a:t>LLM-</a:t>
            </a:r>
            <a:r>
              <a:rPr sz="2000" dirty="0" err="1"/>
              <a:t>Agenten</a:t>
            </a:r>
            <a:r>
              <a:rPr sz="2000" dirty="0"/>
              <a:t> via </a:t>
            </a:r>
            <a:r>
              <a:rPr sz="2000" dirty="0" err="1"/>
              <a:t>Pydantic</a:t>
            </a:r>
            <a:r>
              <a:rPr sz="2000" dirty="0"/>
              <a:t>-AI + </a:t>
            </a:r>
            <a:r>
              <a:rPr sz="2000" dirty="0" err="1"/>
              <a:t>lokales</a:t>
            </a:r>
            <a:r>
              <a:rPr sz="2000" dirty="0"/>
              <a:t> </a:t>
            </a:r>
            <a:r>
              <a:rPr sz="2000" dirty="0" err="1"/>
              <a:t>Ollama</a:t>
            </a:r>
            <a:endParaRPr lang="de-DE" sz="2000" dirty="0"/>
          </a:p>
          <a:p>
            <a:r>
              <a:rPr lang="de-DE" sz="2000" dirty="0"/>
              <a:t>Monitoring über </a:t>
            </a:r>
            <a:r>
              <a:rPr lang="de-DE" sz="2000" dirty="0" err="1"/>
              <a:t>Zenoh</a:t>
            </a:r>
            <a:r>
              <a:rPr lang="de-DE" sz="2000" dirty="0"/>
              <a:t>, mit </a:t>
            </a:r>
            <a:r>
              <a:rPr lang="de-DE" sz="2000" dirty="0" err="1"/>
              <a:t>zenohhammer</a:t>
            </a:r>
            <a:r>
              <a:rPr lang="de-DE" sz="2000" dirty="0"/>
              <a:t> und Viewer für Kamera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2376156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39C33F-76BE-3F95-49FD-61A702424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Gewählte Architektur</a:t>
            </a:r>
          </a:p>
        </p:txBody>
      </p:sp>
      <p:sp>
        <p:nvSpPr>
          <p:cNvPr id="35" name="msg_lane_0"/>
          <p:cNvSpPr/>
          <p:nvPr/>
        </p:nvSpPr>
        <p:spPr>
          <a:xfrm>
            <a:off x="454660" y="2680208"/>
            <a:ext cx="1874519" cy="384048"/>
          </a:xfrm>
          <a:prstGeom prst="roundRect">
            <a:avLst/>
          </a:prstGeom>
          <a:solidFill>
            <a:srgbClr val="2E5496"/>
          </a:solidFill>
          <a:ln w="15875">
            <a:solidFill>
              <a:srgbClr val="B6C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000" tIns="12000" rIns="12000" bIns="12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Orchestrator</a:t>
            </a:r>
          </a:p>
        </p:txBody>
      </p:sp>
      <p:cxnSp>
        <p:nvCxnSpPr>
          <p:cNvPr id="36" name="msg_life_0"/>
          <p:cNvCxnSpPr/>
          <p:nvPr/>
        </p:nvCxnSpPr>
        <p:spPr>
          <a:xfrm>
            <a:off x="1391920" y="3064256"/>
            <a:ext cx="0" cy="1261872"/>
          </a:xfrm>
          <a:prstGeom prst="line">
            <a:avLst/>
          </a:prstGeom>
          <a:ln w="12700">
            <a:solidFill>
              <a:srgbClr val="B6C2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msg_lane_1"/>
          <p:cNvSpPr/>
          <p:nvPr/>
        </p:nvSpPr>
        <p:spPr>
          <a:xfrm>
            <a:off x="3563620" y="2680208"/>
            <a:ext cx="1874519" cy="384048"/>
          </a:xfrm>
          <a:prstGeom prst="roundRect">
            <a:avLst/>
          </a:prstGeom>
          <a:solidFill>
            <a:srgbClr val="2E5496"/>
          </a:solidFill>
          <a:ln w="15875">
            <a:solidFill>
              <a:srgbClr val="B6C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000" tIns="12000" rIns="12000" bIns="12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Zenoh-Bus</a:t>
            </a:r>
          </a:p>
        </p:txBody>
      </p:sp>
      <p:cxnSp>
        <p:nvCxnSpPr>
          <p:cNvPr id="38" name="msg_life_1"/>
          <p:cNvCxnSpPr/>
          <p:nvPr/>
        </p:nvCxnSpPr>
        <p:spPr>
          <a:xfrm>
            <a:off x="4500880" y="3064256"/>
            <a:ext cx="0" cy="1261872"/>
          </a:xfrm>
          <a:prstGeom prst="line">
            <a:avLst/>
          </a:prstGeom>
          <a:ln w="12700">
            <a:solidFill>
              <a:srgbClr val="B6C2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msg_lane_2"/>
          <p:cNvSpPr/>
          <p:nvPr/>
        </p:nvSpPr>
        <p:spPr>
          <a:xfrm>
            <a:off x="6672579" y="2680208"/>
            <a:ext cx="1874519" cy="384048"/>
          </a:xfrm>
          <a:prstGeom prst="roundRect">
            <a:avLst/>
          </a:prstGeom>
          <a:solidFill>
            <a:srgbClr val="2E5496"/>
          </a:solidFill>
          <a:ln w="15875">
            <a:solidFill>
              <a:srgbClr val="B6C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000" tIns="12000" rIns="12000" bIns="12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Worker</a:t>
            </a:r>
          </a:p>
        </p:txBody>
      </p:sp>
      <p:cxnSp>
        <p:nvCxnSpPr>
          <p:cNvPr id="40" name="msg_life_2"/>
          <p:cNvCxnSpPr/>
          <p:nvPr/>
        </p:nvCxnSpPr>
        <p:spPr>
          <a:xfrm>
            <a:off x="7609840" y="3064256"/>
            <a:ext cx="0" cy="1261872"/>
          </a:xfrm>
          <a:prstGeom prst="line">
            <a:avLst/>
          </a:prstGeom>
          <a:ln w="12700">
            <a:solidFill>
              <a:srgbClr val="B6C2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msg_lane_3"/>
          <p:cNvSpPr/>
          <p:nvPr/>
        </p:nvSpPr>
        <p:spPr>
          <a:xfrm>
            <a:off x="9370060" y="2680208"/>
            <a:ext cx="1874519" cy="384048"/>
          </a:xfrm>
          <a:prstGeom prst="roundRect">
            <a:avLst/>
          </a:prstGeom>
          <a:solidFill>
            <a:srgbClr val="DAE3F3"/>
          </a:solidFill>
          <a:ln w="15875"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000" tIns="12000" rIns="12000" bIns="12000" rtlCol="0" anchor="ctr"/>
          <a:lstStyle/>
          <a:p>
            <a:pPr algn="ctr"/>
            <a:r>
              <a:rPr sz="1200" b="1">
                <a:solidFill>
                  <a:srgbClr val="1F3355"/>
                </a:solidFill>
                <a:latin typeface="Calibri"/>
              </a:rPr>
              <a:t>Task-Modul</a:t>
            </a:r>
          </a:p>
        </p:txBody>
      </p:sp>
      <p:cxnSp>
        <p:nvCxnSpPr>
          <p:cNvPr id="42" name="msg_life_3"/>
          <p:cNvCxnSpPr/>
          <p:nvPr/>
        </p:nvCxnSpPr>
        <p:spPr>
          <a:xfrm>
            <a:off x="10307320" y="3064256"/>
            <a:ext cx="0" cy="1261872"/>
          </a:xfrm>
          <a:prstGeom prst="line">
            <a:avLst/>
          </a:prstGeom>
          <a:ln w="12700">
            <a:solidFill>
              <a:srgbClr val="B6C2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msg_arrow_0"/>
          <p:cNvCxnSpPr/>
          <p:nvPr/>
        </p:nvCxnSpPr>
        <p:spPr>
          <a:xfrm>
            <a:off x="1391920" y="3256280"/>
            <a:ext cx="3108960" cy="0"/>
          </a:xfrm>
          <a:prstGeom prst="line">
            <a:avLst/>
          </a:prstGeom>
          <a:ln w="1905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msg_alabel_0"/>
          <p:cNvSpPr txBox="1"/>
          <p:nvPr/>
        </p:nvSpPr>
        <p:spPr>
          <a:xfrm>
            <a:off x="1567028" y="3064256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  put  pipeline/{task}/start</a:t>
            </a:r>
          </a:p>
        </p:txBody>
      </p:sp>
      <p:cxnSp>
        <p:nvCxnSpPr>
          <p:cNvPr id="45" name="msg_arrow_1"/>
          <p:cNvCxnSpPr/>
          <p:nvPr/>
        </p:nvCxnSpPr>
        <p:spPr>
          <a:xfrm>
            <a:off x="4500880" y="3503168"/>
            <a:ext cx="3108960" cy="0"/>
          </a:xfrm>
          <a:prstGeom prst="line">
            <a:avLst/>
          </a:prstGeom>
          <a:ln w="1905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msg_alabel_1"/>
          <p:cNvSpPr txBox="1"/>
          <p:nvPr/>
        </p:nvSpPr>
        <p:spPr>
          <a:xfrm>
            <a:off x="4546600" y="3269996"/>
            <a:ext cx="3017519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  sub  pipeline/*/start</a:t>
            </a:r>
          </a:p>
        </p:txBody>
      </p:sp>
      <p:cxnSp>
        <p:nvCxnSpPr>
          <p:cNvPr id="47" name="msg_arrow_2"/>
          <p:cNvCxnSpPr/>
          <p:nvPr/>
        </p:nvCxnSpPr>
        <p:spPr>
          <a:xfrm>
            <a:off x="7609840" y="3750056"/>
            <a:ext cx="2697480" cy="0"/>
          </a:xfrm>
          <a:prstGeom prst="line">
            <a:avLst/>
          </a:prstGeom>
          <a:ln w="22225">
            <a:solidFill>
              <a:srgbClr val="E86A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msg_alabel_2"/>
          <p:cNvSpPr txBox="1"/>
          <p:nvPr/>
        </p:nvSpPr>
        <p:spPr>
          <a:xfrm>
            <a:off x="7655560" y="3516884"/>
            <a:ext cx="260604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E86A17"/>
                </a:solidFill>
                <a:latin typeface="Calibri"/>
              </a:rPr>
              <a:t>3  run_task()</a:t>
            </a:r>
          </a:p>
        </p:txBody>
      </p:sp>
      <p:cxnSp>
        <p:nvCxnSpPr>
          <p:cNvPr id="49" name="msg_arrow_3"/>
          <p:cNvCxnSpPr/>
          <p:nvPr/>
        </p:nvCxnSpPr>
        <p:spPr>
          <a:xfrm flipH="1">
            <a:off x="4500880" y="3996944"/>
            <a:ext cx="3108960" cy="0"/>
          </a:xfrm>
          <a:prstGeom prst="line">
            <a:avLst/>
          </a:prstGeom>
          <a:ln w="1905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msg_alabel_3"/>
          <p:cNvSpPr txBox="1"/>
          <p:nvPr/>
        </p:nvSpPr>
        <p:spPr>
          <a:xfrm>
            <a:off x="4546600" y="3763772"/>
            <a:ext cx="3017519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  put  pipeline/{task}/done</a:t>
            </a:r>
          </a:p>
        </p:txBody>
      </p:sp>
      <p:cxnSp>
        <p:nvCxnSpPr>
          <p:cNvPr id="51" name="msg_arrow_4"/>
          <p:cNvCxnSpPr/>
          <p:nvPr/>
        </p:nvCxnSpPr>
        <p:spPr>
          <a:xfrm flipH="1">
            <a:off x="1391920" y="4243832"/>
            <a:ext cx="3108960" cy="0"/>
          </a:xfrm>
          <a:prstGeom prst="line">
            <a:avLst/>
          </a:prstGeom>
          <a:ln w="1905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msg_alabel_4"/>
          <p:cNvSpPr txBox="1"/>
          <p:nvPr/>
        </p:nvSpPr>
        <p:spPr>
          <a:xfrm>
            <a:off x="1437640" y="4010660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5  sub  pipeline/*/done</a:t>
            </a:r>
          </a:p>
        </p:txBody>
      </p:sp>
      <p:sp>
        <p:nvSpPr>
          <p:cNvPr id="53" name="msg_card_start"/>
          <p:cNvSpPr/>
          <p:nvPr/>
        </p:nvSpPr>
        <p:spPr>
          <a:xfrm>
            <a:off x="1749907" y="4472432"/>
            <a:ext cx="4069080" cy="1298448"/>
          </a:xfrm>
          <a:prstGeom prst="roundRect">
            <a:avLst/>
          </a:prstGeom>
          <a:solidFill>
            <a:srgbClr val="1F3355"/>
          </a:solidFill>
          <a:ln w="12700"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000" tIns="40000" rIns="30000" bIns="20000" rtlCol="0" anchor="t"/>
          <a:lstStyle/>
          <a:p>
            <a:pPr algn="l"/>
            <a:r>
              <a:rPr sz="1050" b="1">
                <a:solidFill>
                  <a:srgbClr val="F2B177"/>
                </a:solidFill>
                <a:latin typeface="Consolas"/>
              </a:rPr>
              <a:t>pipeline/{task}/start</a:t>
            </a:r>
          </a:p>
          <a:p>
            <a:pPr algn="l"/>
            <a:r>
              <a:rPr sz="1050">
                <a:solidFill>
                  <a:srgbClr val="E8EEF7"/>
                </a:solidFill>
                <a:latin typeface="Consolas"/>
              </a:rPr>
              <a:t>{</a:t>
            </a:r>
          </a:p>
          <a:p>
            <a:pPr algn="l"/>
            <a:r>
              <a:rPr sz="1050">
                <a:solidFill>
                  <a:srgbClr val="E8EEF7"/>
                </a:solidFill>
                <a:latin typeface="Consolas"/>
              </a:rPr>
              <a:t>  "task_id": "task1",</a:t>
            </a:r>
          </a:p>
          <a:p>
            <a:pPr algn="l"/>
            <a:r>
              <a:rPr sz="1050">
                <a:solidFill>
                  <a:srgbClr val="E8EEF7"/>
                </a:solidFill>
                <a:latin typeface="Consolas"/>
              </a:rPr>
              <a:t>  "run_id":  "&lt;uuid&gt;",</a:t>
            </a:r>
          </a:p>
          <a:p>
            <a:pPr algn="l"/>
            <a:r>
              <a:rPr sz="1050">
                <a:solidFill>
                  <a:srgbClr val="E8EEF7"/>
                </a:solidFill>
                <a:latin typeface="Consolas"/>
              </a:rPr>
              <a:t>  "status":  "start",</a:t>
            </a:r>
          </a:p>
          <a:p>
            <a:pPr algn="l"/>
            <a:r>
              <a:rPr sz="1050">
                <a:solidFill>
                  <a:srgbClr val="E8EEF7"/>
                </a:solidFill>
                <a:latin typeface="Consolas"/>
              </a:rPr>
              <a:t>  "data":    {}</a:t>
            </a:r>
          </a:p>
          <a:p>
            <a:pPr algn="l"/>
            <a:r>
              <a:rPr sz="1050">
                <a:solidFill>
                  <a:srgbClr val="E8EEF7"/>
                </a:solidFill>
                <a:latin typeface="Consolas"/>
              </a:rPr>
              <a:t>}</a:t>
            </a:r>
          </a:p>
        </p:txBody>
      </p:sp>
      <p:sp>
        <p:nvSpPr>
          <p:cNvPr id="54" name="msg_card_done"/>
          <p:cNvSpPr/>
          <p:nvPr/>
        </p:nvSpPr>
        <p:spPr>
          <a:xfrm>
            <a:off x="6321907" y="4472432"/>
            <a:ext cx="4069080" cy="1298448"/>
          </a:xfrm>
          <a:prstGeom prst="roundRect">
            <a:avLst/>
          </a:prstGeom>
          <a:solidFill>
            <a:srgbClr val="1F3355"/>
          </a:solidFill>
          <a:ln w="12700"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000" tIns="40000" rIns="30000" bIns="20000" rtlCol="0" anchor="t"/>
          <a:lstStyle/>
          <a:p>
            <a:pPr algn="l"/>
            <a:r>
              <a:rPr sz="1050" b="1">
                <a:solidFill>
                  <a:srgbClr val="F2B177"/>
                </a:solidFill>
                <a:latin typeface="Consolas"/>
              </a:rPr>
              <a:t>pipeline/{task}/done</a:t>
            </a:r>
          </a:p>
          <a:p>
            <a:pPr algn="l"/>
            <a:r>
              <a:rPr sz="1050">
                <a:solidFill>
                  <a:srgbClr val="E8EEF7"/>
                </a:solidFill>
                <a:latin typeface="Consolas"/>
              </a:rPr>
              <a:t>{</a:t>
            </a:r>
          </a:p>
          <a:p>
            <a:pPr algn="l"/>
            <a:r>
              <a:rPr sz="1050">
                <a:solidFill>
                  <a:srgbClr val="E8EEF7"/>
                </a:solidFill>
                <a:latin typeface="Consolas"/>
              </a:rPr>
              <a:t>  "task_id": "task1",</a:t>
            </a:r>
          </a:p>
          <a:p>
            <a:pPr algn="l"/>
            <a:r>
              <a:rPr sz="1050">
                <a:solidFill>
                  <a:srgbClr val="E8EEF7"/>
                </a:solidFill>
                <a:latin typeface="Consolas"/>
              </a:rPr>
              <a:t>  "run_id":  "&lt;uuid&gt;",</a:t>
            </a:r>
          </a:p>
          <a:p>
            <a:pPr algn="l"/>
            <a:r>
              <a:rPr sz="1050">
                <a:solidFill>
                  <a:srgbClr val="E8EEF7"/>
                </a:solidFill>
                <a:latin typeface="Consolas"/>
              </a:rPr>
              <a:t>  "status":  "done",</a:t>
            </a:r>
          </a:p>
          <a:p>
            <a:pPr algn="l"/>
            <a:r>
              <a:rPr sz="1050">
                <a:solidFill>
                  <a:srgbClr val="E8EEF7"/>
                </a:solidFill>
                <a:latin typeface="Consolas"/>
              </a:rPr>
              <a:t>  "data":    "&lt;model_json&gt;"</a:t>
            </a:r>
          </a:p>
          <a:p>
            <a:pPr algn="l"/>
            <a:r>
              <a:rPr sz="1050">
                <a:solidFill>
                  <a:srgbClr val="E8EEF7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7890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C8746F-7264-6831-DFE1-2BFA8BD6E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Task0 und Task1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515610-B21D-68F5-4B48-F7DBEE89D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50000"/>
          </a:xfrm>
        </p:spPr>
        <p:txBody>
          <a:bodyPr wrap="square">
            <a:normAutofit/>
          </a:bodyPr>
          <a:lstStyle/>
          <a:p>
            <a:r>
              <a:rPr lang="de-DE" sz="1800" dirty="0"/>
              <a:t>Task 0 nimmt User-Input für Fläche</a:t>
            </a:r>
            <a:endParaRPr lang="de-DE" dirty="0"/>
          </a:p>
          <a:p>
            <a:r>
              <a:rPr sz="1800" dirty="0"/>
              <a:t>AI-Agent </a:t>
            </a:r>
            <a:r>
              <a:rPr sz="1800" dirty="0" err="1"/>
              <a:t>mit</a:t>
            </a:r>
            <a:r>
              <a:rPr sz="1800" dirty="0"/>
              <a:t> </a:t>
            </a:r>
            <a:r>
              <a:rPr sz="1800" dirty="0" err="1"/>
              <a:t>Ollama</a:t>
            </a:r>
            <a:r>
              <a:rPr sz="1800" dirty="0"/>
              <a:t> (qwen2.5:7b)</a:t>
            </a:r>
            <a:r>
              <a:rPr lang="de-DE" sz="1800" dirty="0"/>
              <a:t> plant den Pfad </a:t>
            </a:r>
            <a:endParaRPr sz="1800" dirty="0"/>
          </a:p>
          <a:p>
            <a:r>
              <a:rPr sz="1800" dirty="0"/>
              <a:t>Experiment-Tracking </a:t>
            </a:r>
            <a:r>
              <a:rPr sz="1800" dirty="0" err="1"/>
              <a:t>mit</a:t>
            </a:r>
            <a:r>
              <a:rPr sz="1800" dirty="0"/>
              <a:t> </a:t>
            </a:r>
            <a:r>
              <a:rPr sz="1800" dirty="0" err="1"/>
              <a:t>MLflow</a:t>
            </a:r>
            <a:endParaRPr sz="1800" dirty="0"/>
          </a:p>
        </p:txBody>
      </p:sp>
      <p:grpSp>
        <p:nvGrpSpPr>
          <p:cNvPr id="4" name="arch_group">
            <a:extLst>
              <a:ext uri="{FF2B5EF4-FFF2-40B4-BE49-F238E27FC236}">
                <a16:creationId xmlns:a16="http://schemas.microsoft.com/office/drawing/2014/main" id="{8E5B778B-F3C6-0CF3-A35D-B7D4042DC6D1}"/>
              </a:ext>
            </a:extLst>
          </p:cNvPr>
          <p:cNvGrpSpPr/>
          <p:nvPr/>
        </p:nvGrpSpPr>
        <p:grpSpPr>
          <a:xfrm>
            <a:off x="1114358" y="3520000"/>
            <a:ext cx="9963283" cy="3200000"/>
            <a:chOff x="252196" y="2842791"/>
            <a:chExt cx="11604000" cy="3726964"/>
          </a:xfrm>
        </p:grpSpPr>
        <p:sp>
          <p:nvSpPr>
            <p:cNvPr id="5" name="arch_orch"/>
            <p:cNvSpPr/>
            <p:nvPr/>
          </p:nvSpPr>
          <p:spPr>
            <a:xfrm>
              <a:off x="256196" y="2842791"/>
              <a:ext cx="11600000" cy="765000"/>
            </a:xfrm>
            <a:prstGeom prst="roundRect">
              <a:avLst/>
            </a:prstGeom>
            <a:solidFill>
              <a:srgbClr val="2E5496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400" b="1" dirty="0">
                  <a:solidFill>
                    <a:srgbClr val="FFFFFF"/>
                  </a:solidFill>
                </a:rPr>
                <a:t>Orchestrator + Worker</a:t>
              </a:r>
            </a:p>
            <a:p>
              <a:pPr algn="ctr"/>
              <a:r>
                <a:rPr sz="1100" b="0" dirty="0" err="1">
                  <a:solidFill>
                    <a:srgbClr val="FFFFFF"/>
                  </a:solidFill>
                </a:rPr>
                <a:t>startet</a:t>
              </a:r>
              <a:r>
                <a:rPr sz="1100" b="0" dirty="0">
                  <a:solidFill>
                    <a:srgbClr val="FFFFFF"/>
                  </a:solidFill>
                </a:rPr>
                <a:t> &amp; </a:t>
              </a:r>
              <a:r>
                <a:rPr sz="1100" b="0" dirty="0" err="1">
                  <a:solidFill>
                    <a:srgbClr val="FFFFFF"/>
                  </a:solidFill>
                </a:rPr>
                <a:t>stoppt</a:t>
              </a:r>
              <a:r>
                <a:rPr sz="1100" b="0" dirty="0">
                  <a:solidFill>
                    <a:srgbClr val="FFFFFF"/>
                  </a:solidFill>
                </a:rPr>
                <a:t> </a:t>
              </a:r>
              <a:r>
                <a:rPr sz="1100" b="0" dirty="0" err="1">
                  <a:solidFill>
                    <a:srgbClr val="FFFFFF"/>
                  </a:solidFill>
                </a:rPr>
                <a:t>jede</a:t>
              </a:r>
              <a:r>
                <a:rPr sz="1100" b="0" dirty="0">
                  <a:solidFill>
                    <a:srgbClr val="FFFFFF"/>
                  </a:solidFill>
                </a:rPr>
                <a:t> Task · pipeline/*/start → done</a:t>
              </a:r>
            </a:p>
          </p:txBody>
        </p:sp>
        <p:sp>
          <p:nvSpPr>
            <p:cNvPr id="6" name="arch_task_task0"/>
            <p:cNvSpPr/>
            <p:nvPr/>
          </p:nvSpPr>
          <p:spPr>
            <a:xfrm>
              <a:off x="337395" y="4287791"/>
              <a:ext cx="1577600" cy="1445000"/>
            </a:xfrm>
            <a:prstGeom prst="roundRect">
              <a:avLst/>
            </a:prstGeom>
            <a:solidFill>
              <a:srgbClr val="E86A17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 dirty="0">
                  <a:solidFill>
                    <a:schemeClr val="tx1"/>
                  </a:solidFill>
                </a:rPr>
                <a:t>Task0</a:t>
              </a:r>
            </a:p>
            <a:p>
              <a:pPr algn="ctr"/>
              <a:r>
                <a:rPr sz="1100" b="0" dirty="0" err="1">
                  <a:solidFill>
                    <a:schemeClr val="tx1"/>
                  </a:solidFill>
                </a:rPr>
                <a:t>Suchfeld-Eingabe</a:t>
              </a:r>
              <a:endParaRPr sz="1100" b="0" dirty="0">
                <a:solidFill>
                  <a:schemeClr val="tx1"/>
                </a:solidFill>
              </a:endParaRPr>
            </a:p>
          </p:txBody>
        </p:sp>
        <p:sp>
          <p:nvSpPr>
            <p:cNvPr id="7" name="arch_task_task1"/>
            <p:cNvSpPr/>
            <p:nvPr/>
          </p:nvSpPr>
          <p:spPr>
            <a:xfrm>
              <a:off x="2309396" y="4287791"/>
              <a:ext cx="1577600" cy="1445000"/>
            </a:xfrm>
            <a:prstGeom prst="roundRect">
              <a:avLst/>
            </a:prstGeom>
            <a:solidFill>
              <a:srgbClr val="E86A17"/>
            </a:solidFill>
            <a:ln w="22225">
              <a:solidFill>
                <a:srgbClr val="B4500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>
                  <a:solidFill>
                    <a:srgbClr val="FFFFFF"/>
                  </a:solidFill>
                </a:rPr>
                <a:t>Task1</a:t>
              </a:r>
            </a:p>
            <a:p>
              <a:pPr algn="ctr"/>
              <a:r>
                <a:rPr sz="1100" b="0">
                  <a:solidFill>
                    <a:srgbClr val="FFFFFF"/>
                  </a:solidFill>
                </a:rPr>
                <a:t>Pfadplan · Agent</a:t>
              </a:r>
            </a:p>
          </p:txBody>
        </p:sp>
        <p:sp>
          <p:nvSpPr>
            <p:cNvPr id="8" name="arch_task_task2_1"/>
            <p:cNvSpPr/>
            <p:nvPr/>
          </p:nvSpPr>
          <p:spPr>
            <a:xfrm>
              <a:off x="4281396" y="4117791"/>
              <a:ext cx="1577600" cy="850000"/>
            </a:xfrm>
            <a:prstGeom prst="roundRect">
              <a:avLst/>
            </a:prstGeom>
            <a:solidFill>
              <a:srgbClr val="DAE3F3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>
                  <a:solidFill>
                    <a:srgbClr val="1F3355"/>
                  </a:solidFill>
                </a:rPr>
                <a:t>Task2_1</a:t>
              </a:r>
            </a:p>
            <a:p>
              <a:pPr algn="ctr"/>
              <a:r>
                <a:rPr sz="1100" b="0">
                  <a:solidFill>
                    <a:srgbClr val="1F3355"/>
                  </a:solidFill>
                </a:rPr>
                <a:t>Pfad abfahren</a:t>
              </a:r>
            </a:p>
          </p:txBody>
        </p:sp>
        <p:sp>
          <p:nvSpPr>
            <p:cNvPr id="9" name="arch_task_task2_2"/>
            <p:cNvSpPr/>
            <p:nvPr/>
          </p:nvSpPr>
          <p:spPr>
            <a:xfrm>
              <a:off x="4281396" y="5052791"/>
              <a:ext cx="1577600" cy="849999"/>
            </a:xfrm>
            <a:prstGeom prst="roundRect">
              <a:avLst/>
            </a:prstGeom>
            <a:solidFill>
              <a:srgbClr val="DAE3F3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>
                  <a:solidFill>
                    <a:srgbClr val="1F3355"/>
                  </a:solidFill>
                </a:rPr>
                <a:t>Task2_2</a:t>
              </a:r>
            </a:p>
            <a:p>
              <a:pPr algn="ctr"/>
              <a:r>
                <a:rPr sz="1100" b="0">
                  <a:solidFill>
                    <a:srgbClr val="1F3355"/>
                  </a:solidFill>
                </a:rPr>
                <a:t>Detektion + Validierung</a:t>
              </a:r>
            </a:p>
          </p:txBody>
        </p:sp>
        <p:sp>
          <p:nvSpPr>
            <p:cNvPr id="10" name="arch_task_task3"/>
            <p:cNvSpPr/>
            <p:nvPr/>
          </p:nvSpPr>
          <p:spPr>
            <a:xfrm>
              <a:off x="6253395" y="4287791"/>
              <a:ext cx="1577600" cy="1445000"/>
            </a:xfrm>
            <a:prstGeom prst="roundRect">
              <a:avLst/>
            </a:prstGeom>
            <a:solidFill>
              <a:srgbClr val="DAE3F3"/>
            </a:solidFill>
            <a:ln w="22225">
              <a:solidFill>
                <a:srgbClr val="2E8B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>
                  <a:solidFill>
                    <a:srgbClr val="1F3355"/>
                  </a:solidFill>
                </a:rPr>
                <a:t>Task3</a:t>
              </a:r>
            </a:p>
            <a:p>
              <a:pPr algn="ctr"/>
              <a:r>
                <a:rPr sz="1100" b="0">
                  <a:solidFill>
                    <a:srgbClr val="1F3355"/>
                  </a:solidFill>
                </a:rPr>
                <a:t>Witz · Agent</a:t>
              </a:r>
            </a:p>
          </p:txBody>
        </p:sp>
        <p:sp>
          <p:nvSpPr>
            <p:cNvPr id="11" name="arch_task_task4"/>
            <p:cNvSpPr/>
            <p:nvPr/>
          </p:nvSpPr>
          <p:spPr>
            <a:xfrm>
              <a:off x="8225396" y="4287791"/>
              <a:ext cx="1577600" cy="1445000"/>
            </a:xfrm>
            <a:prstGeom prst="roundRect">
              <a:avLst/>
            </a:prstGeom>
            <a:solidFill>
              <a:srgbClr val="DAE3F3"/>
            </a:solidFill>
            <a:ln w="22225">
              <a:solidFill>
                <a:srgbClr val="2E8B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 dirty="0">
                  <a:solidFill>
                    <a:srgbClr val="1F3355"/>
                  </a:solidFill>
                </a:rPr>
                <a:t>Task4</a:t>
              </a:r>
            </a:p>
            <a:p>
              <a:pPr algn="ctr"/>
              <a:r>
                <a:rPr lang="de-DE" sz="1100" b="0" dirty="0">
                  <a:solidFill>
                    <a:srgbClr val="1F3355"/>
                  </a:solidFill>
                </a:rPr>
                <a:t>Müllpfadplan</a:t>
              </a:r>
              <a:r>
                <a:rPr sz="1100" b="0" dirty="0">
                  <a:solidFill>
                    <a:srgbClr val="1F3355"/>
                  </a:solidFill>
                </a:rPr>
                <a:t>· Agent</a:t>
              </a:r>
            </a:p>
          </p:txBody>
        </p:sp>
        <p:sp>
          <p:nvSpPr>
            <p:cNvPr id="12" name="arch_task_task5"/>
            <p:cNvSpPr/>
            <p:nvPr/>
          </p:nvSpPr>
          <p:spPr>
            <a:xfrm>
              <a:off x="10197396" y="4117791"/>
              <a:ext cx="1577600" cy="850000"/>
            </a:xfrm>
            <a:prstGeom prst="roundRect">
              <a:avLst/>
            </a:prstGeom>
            <a:solidFill>
              <a:srgbClr val="DAE3F3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 dirty="0">
                  <a:solidFill>
                    <a:srgbClr val="1F3355"/>
                  </a:solidFill>
                </a:rPr>
                <a:t>Task5</a:t>
              </a:r>
            </a:p>
            <a:p>
              <a:pPr algn="ctr"/>
              <a:r>
                <a:rPr lang="de-DE" sz="1100" dirty="0" err="1">
                  <a:solidFill>
                    <a:srgbClr val="1F3355"/>
                  </a:solidFill>
                </a:rPr>
                <a:t>Müllp</a:t>
              </a:r>
              <a:r>
                <a:rPr sz="1100" b="0" dirty="0" err="1">
                  <a:solidFill>
                    <a:srgbClr val="1F3355"/>
                  </a:solidFill>
                </a:rPr>
                <a:t>unkte</a:t>
              </a:r>
              <a:r>
                <a:rPr sz="1100" b="0" dirty="0">
                  <a:solidFill>
                    <a:srgbClr val="1F3355"/>
                  </a:solidFill>
                </a:rPr>
                <a:t> </a:t>
              </a:r>
              <a:r>
                <a:rPr sz="1100" b="0" dirty="0" err="1">
                  <a:solidFill>
                    <a:srgbClr val="1F3355"/>
                  </a:solidFill>
                </a:rPr>
                <a:t>anfahren</a:t>
              </a:r>
              <a:endParaRPr sz="1100" b="0" dirty="0">
                <a:solidFill>
                  <a:srgbClr val="1F3355"/>
                </a:solidFill>
              </a:endParaRPr>
            </a:p>
          </p:txBody>
        </p:sp>
        <p:sp>
          <p:nvSpPr>
            <p:cNvPr id="13" name="arch_task_task6"/>
            <p:cNvSpPr/>
            <p:nvPr/>
          </p:nvSpPr>
          <p:spPr>
            <a:xfrm>
              <a:off x="10197396" y="5052791"/>
              <a:ext cx="1577600" cy="849999"/>
            </a:xfrm>
            <a:prstGeom prst="roundRect">
              <a:avLst/>
            </a:prstGeom>
            <a:solidFill>
              <a:srgbClr val="DAE3F3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>
                  <a:solidFill>
                    <a:srgbClr val="1F3355"/>
                  </a:solidFill>
                </a:rPr>
                <a:t>Task6</a:t>
              </a:r>
            </a:p>
            <a:p>
              <a:pPr algn="ctr"/>
              <a:r>
                <a:rPr sz="1100" b="0">
                  <a:solidFill>
                    <a:srgbClr val="1F3355"/>
                  </a:solidFill>
                </a:rPr>
                <a:t>Abschluss-Emote</a:t>
              </a:r>
            </a:p>
          </p:txBody>
        </p:sp>
        <p:cxnSp>
          <p:nvCxnSpPr>
            <p:cNvPr id="14" name="arch_ctrl"/>
            <p:cNvCxnSpPr/>
            <p:nvPr/>
          </p:nvCxnSpPr>
          <p:spPr>
            <a:xfrm>
              <a:off x="1126196" y="3607791"/>
              <a:ext cx="0" cy="68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arch_ctrl"/>
            <p:cNvCxnSpPr/>
            <p:nvPr/>
          </p:nvCxnSpPr>
          <p:spPr>
            <a:xfrm>
              <a:off x="3098196" y="3607791"/>
              <a:ext cx="0" cy="68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arch_ctrl"/>
            <p:cNvCxnSpPr/>
            <p:nvPr/>
          </p:nvCxnSpPr>
          <p:spPr>
            <a:xfrm>
              <a:off x="5070196" y="3607791"/>
              <a:ext cx="0" cy="51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arch_ctrl"/>
            <p:cNvCxnSpPr/>
            <p:nvPr/>
          </p:nvCxnSpPr>
          <p:spPr>
            <a:xfrm>
              <a:off x="5070196" y="3607791"/>
              <a:ext cx="0" cy="1445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arch_ctrl"/>
            <p:cNvCxnSpPr/>
            <p:nvPr/>
          </p:nvCxnSpPr>
          <p:spPr>
            <a:xfrm>
              <a:off x="7042195" y="3607791"/>
              <a:ext cx="0" cy="68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arch_ctrl"/>
            <p:cNvCxnSpPr/>
            <p:nvPr/>
          </p:nvCxnSpPr>
          <p:spPr>
            <a:xfrm>
              <a:off x="9014196" y="3607791"/>
              <a:ext cx="0" cy="68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arch_ctrl"/>
            <p:cNvCxnSpPr/>
            <p:nvPr/>
          </p:nvCxnSpPr>
          <p:spPr>
            <a:xfrm>
              <a:off x="10986196" y="3607791"/>
              <a:ext cx="0" cy="51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arch_ctrl"/>
            <p:cNvCxnSpPr/>
            <p:nvPr/>
          </p:nvCxnSpPr>
          <p:spPr>
            <a:xfrm>
              <a:off x="10986196" y="3607791"/>
              <a:ext cx="0" cy="1445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arch_conn"/>
            <p:cNvCxnSpPr/>
            <p:nvPr/>
          </p:nvCxnSpPr>
          <p:spPr>
            <a:xfrm>
              <a:off x="1914996" y="5010291"/>
              <a:ext cx="394400" cy="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arch_conn"/>
            <p:cNvCxnSpPr/>
            <p:nvPr/>
          </p:nvCxnSpPr>
          <p:spPr>
            <a:xfrm flipV="1">
              <a:off x="3886996" y="4542791"/>
              <a:ext cx="394400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arch_conn"/>
            <p:cNvCxnSpPr/>
            <p:nvPr/>
          </p:nvCxnSpPr>
          <p:spPr>
            <a:xfrm>
              <a:off x="3886996" y="5010291"/>
              <a:ext cx="394400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arch_conn"/>
            <p:cNvCxnSpPr/>
            <p:nvPr/>
          </p:nvCxnSpPr>
          <p:spPr>
            <a:xfrm>
              <a:off x="5858996" y="4542791"/>
              <a:ext cx="394399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arch_conn"/>
            <p:cNvCxnSpPr/>
            <p:nvPr/>
          </p:nvCxnSpPr>
          <p:spPr>
            <a:xfrm flipV="1">
              <a:off x="5858996" y="5010291"/>
              <a:ext cx="394399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arch_conn"/>
            <p:cNvCxnSpPr/>
            <p:nvPr/>
          </p:nvCxnSpPr>
          <p:spPr>
            <a:xfrm>
              <a:off x="7830995" y="5010291"/>
              <a:ext cx="394401" cy="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arch_conn"/>
            <p:cNvCxnSpPr/>
            <p:nvPr/>
          </p:nvCxnSpPr>
          <p:spPr>
            <a:xfrm flipV="1">
              <a:off x="9802996" y="4542791"/>
              <a:ext cx="394400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arch_conn"/>
            <p:cNvCxnSpPr/>
            <p:nvPr/>
          </p:nvCxnSpPr>
          <p:spPr>
            <a:xfrm>
              <a:off x="9802996" y="5010291"/>
              <a:ext cx="394400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arch_zenoh"/>
            <p:cNvSpPr/>
            <p:nvPr/>
          </p:nvSpPr>
          <p:spPr>
            <a:xfrm>
              <a:off x="252196" y="6059755"/>
              <a:ext cx="11600000" cy="510000"/>
            </a:xfrm>
            <a:prstGeom prst="roundRect">
              <a:avLst/>
            </a:prstGeom>
            <a:solidFill>
              <a:srgbClr val="2E5496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100" b="1" dirty="0" err="1">
                  <a:solidFill>
                    <a:srgbClr val="FFFFFF"/>
                  </a:solidFill>
                </a:rPr>
                <a:t>Zenoh</a:t>
              </a:r>
              <a:r>
                <a:rPr sz="1100" b="1" dirty="0">
                  <a:solidFill>
                    <a:srgbClr val="FFFFFF"/>
                  </a:solidFill>
                </a:rPr>
                <a:t>-Bus  ·  Kamera  ·  Inference  ·  </a:t>
              </a:r>
              <a:r>
                <a:rPr sz="1100" b="1" dirty="0" err="1">
                  <a:solidFill>
                    <a:srgbClr val="FFFFFF"/>
                  </a:solidFill>
                </a:rPr>
                <a:t>Agenten</a:t>
              </a:r>
              <a:r>
                <a:rPr sz="1100" b="1" dirty="0">
                  <a:solidFill>
                    <a:srgbClr val="FFFFFF"/>
                  </a:solidFill>
                </a:rPr>
                <a:t> (</a:t>
              </a:r>
              <a:r>
                <a:rPr sz="1100" b="1" dirty="0" err="1">
                  <a:solidFill>
                    <a:srgbClr val="FFFFFF"/>
                  </a:solidFill>
                </a:rPr>
                <a:t>Ollama</a:t>
              </a:r>
              <a:r>
                <a:rPr sz="1100" b="1" dirty="0">
                  <a:solidFill>
                    <a:srgbClr val="FFFFFF"/>
                  </a:solidFill>
                </a:rPr>
                <a:t>)  ·  Navigation  ·  Robodog/Go2  ·  Mensch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04076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669A6D-0A73-B73D-954A-BB3E9E432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Task2_1 und Task2_2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4B604D9-7608-02DD-ECFA-11986D4C3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50000"/>
          </a:xfrm>
        </p:spPr>
        <p:txBody>
          <a:bodyPr wrap="square">
            <a:normAutofit/>
          </a:bodyPr>
          <a:lstStyle/>
          <a:p>
            <a:r>
              <a:rPr lang="de-DE" sz="1800" dirty="0"/>
              <a:t>Punkte aus Task1 abfahren</a:t>
            </a:r>
          </a:p>
          <a:p>
            <a:r>
              <a:rPr lang="de-DE" sz="1800" dirty="0"/>
              <a:t>Währenddessen live </a:t>
            </a:r>
            <a:r>
              <a:rPr lang="de-DE" sz="1800" dirty="0" err="1"/>
              <a:t>interference</a:t>
            </a:r>
            <a:r>
              <a:rPr lang="de-DE" sz="1800" dirty="0"/>
              <a:t> von Task2_2 bis Task2_1 fertig ist</a:t>
            </a:r>
          </a:p>
          <a:p>
            <a:r>
              <a:rPr lang="de-DE" sz="1800" dirty="0"/>
              <a:t>Dadurch erkannter Müll wird als Frame mit </a:t>
            </a:r>
            <a:r>
              <a:rPr lang="de-DE" sz="1800" dirty="0" err="1"/>
              <a:t>Interferencemaske</a:t>
            </a:r>
            <a:r>
              <a:rPr lang="de-DE" sz="1800" dirty="0"/>
              <a:t> in Queue gespeichert</a:t>
            </a:r>
          </a:p>
          <a:p>
            <a:pPr marL="0" indent="0">
              <a:buNone/>
            </a:pPr>
            <a:endParaRPr lang="de-DE" sz="1800" dirty="0"/>
          </a:p>
        </p:txBody>
      </p:sp>
      <p:grpSp>
        <p:nvGrpSpPr>
          <p:cNvPr id="4" name="arch_group">
            <a:extLst>
              <a:ext uri="{FF2B5EF4-FFF2-40B4-BE49-F238E27FC236}">
                <a16:creationId xmlns:a16="http://schemas.microsoft.com/office/drawing/2014/main" id="{8E5B778B-F3C6-0CF3-A35D-B7D4042DC6D1}"/>
              </a:ext>
            </a:extLst>
          </p:cNvPr>
          <p:cNvGrpSpPr/>
          <p:nvPr/>
        </p:nvGrpSpPr>
        <p:grpSpPr>
          <a:xfrm>
            <a:off x="1114358" y="3520000"/>
            <a:ext cx="9963283" cy="3200000"/>
            <a:chOff x="252196" y="2842791"/>
            <a:chExt cx="11604000" cy="3726964"/>
          </a:xfrm>
        </p:grpSpPr>
        <p:sp>
          <p:nvSpPr>
            <p:cNvPr id="5" name="arch_orch"/>
            <p:cNvSpPr/>
            <p:nvPr/>
          </p:nvSpPr>
          <p:spPr>
            <a:xfrm>
              <a:off x="256196" y="2842791"/>
              <a:ext cx="11600000" cy="765000"/>
            </a:xfrm>
            <a:prstGeom prst="roundRect">
              <a:avLst/>
            </a:prstGeom>
            <a:solidFill>
              <a:srgbClr val="2E5496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400" b="1" dirty="0">
                  <a:solidFill>
                    <a:srgbClr val="FFFFFF"/>
                  </a:solidFill>
                </a:rPr>
                <a:t>Orchestrator + Worker</a:t>
              </a:r>
            </a:p>
            <a:p>
              <a:pPr algn="ctr"/>
              <a:r>
                <a:rPr sz="1100" b="0" dirty="0" err="1">
                  <a:solidFill>
                    <a:srgbClr val="FFFFFF"/>
                  </a:solidFill>
                </a:rPr>
                <a:t>startet</a:t>
              </a:r>
              <a:r>
                <a:rPr sz="1100" b="0" dirty="0">
                  <a:solidFill>
                    <a:srgbClr val="FFFFFF"/>
                  </a:solidFill>
                </a:rPr>
                <a:t> &amp; </a:t>
              </a:r>
              <a:r>
                <a:rPr sz="1100" b="0" dirty="0" err="1">
                  <a:solidFill>
                    <a:srgbClr val="FFFFFF"/>
                  </a:solidFill>
                </a:rPr>
                <a:t>stoppt</a:t>
              </a:r>
              <a:r>
                <a:rPr sz="1100" b="0" dirty="0">
                  <a:solidFill>
                    <a:srgbClr val="FFFFFF"/>
                  </a:solidFill>
                </a:rPr>
                <a:t> </a:t>
              </a:r>
              <a:r>
                <a:rPr sz="1100" b="0" dirty="0" err="1">
                  <a:solidFill>
                    <a:srgbClr val="FFFFFF"/>
                  </a:solidFill>
                </a:rPr>
                <a:t>jede</a:t>
              </a:r>
              <a:r>
                <a:rPr sz="1100" b="0" dirty="0">
                  <a:solidFill>
                    <a:srgbClr val="FFFFFF"/>
                  </a:solidFill>
                </a:rPr>
                <a:t> Task · pipeline/*/start → done</a:t>
              </a:r>
            </a:p>
          </p:txBody>
        </p:sp>
        <p:sp>
          <p:nvSpPr>
            <p:cNvPr id="6" name="arch_task_task0"/>
            <p:cNvSpPr/>
            <p:nvPr/>
          </p:nvSpPr>
          <p:spPr>
            <a:xfrm>
              <a:off x="337395" y="4287791"/>
              <a:ext cx="1577600" cy="1445000"/>
            </a:xfrm>
            <a:prstGeom prst="roundRect">
              <a:avLst/>
            </a:prstGeom>
            <a:solidFill>
              <a:srgbClr val="DAE3F3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>
                  <a:solidFill>
                    <a:srgbClr val="1F3355"/>
                  </a:solidFill>
                </a:rPr>
                <a:t>Task0</a:t>
              </a:r>
            </a:p>
            <a:p>
              <a:pPr algn="ctr"/>
              <a:r>
                <a:rPr sz="1100" b="0">
                  <a:solidFill>
                    <a:srgbClr val="1F3355"/>
                  </a:solidFill>
                </a:rPr>
                <a:t>Suchfeld-Eingabe</a:t>
              </a:r>
            </a:p>
          </p:txBody>
        </p:sp>
        <p:sp>
          <p:nvSpPr>
            <p:cNvPr id="7" name="arch_task_task1"/>
            <p:cNvSpPr/>
            <p:nvPr/>
          </p:nvSpPr>
          <p:spPr>
            <a:xfrm>
              <a:off x="2309396" y="4287791"/>
              <a:ext cx="1577600" cy="1445000"/>
            </a:xfrm>
            <a:prstGeom prst="roundRect">
              <a:avLst/>
            </a:prstGeom>
            <a:solidFill>
              <a:srgbClr val="DAE3F3"/>
            </a:solidFill>
            <a:ln w="22225">
              <a:solidFill>
                <a:srgbClr val="2E8B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>
                  <a:solidFill>
                    <a:srgbClr val="1F3355"/>
                  </a:solidFill>
                </a:rPr>
                <a:t>Task1</a:t>
              </a:r>
            </a:p>
            <a:p>
              <a:pPr algn="ctr"/>
              <a:r>
                <a:rPr sz="1100" b="0">
                  <a:solidFill>
                    <a:srgbClr val="1F3355"/>
                  </a:solidFill>
                </a:rPr>
                <a:t>Pfadplan · Agent</a:t>
              </a:r>
            </a:p>
          </p:txBody>
        </p:sp>
        <p:sp>
          <p:nvSpPr>
            <p:cNvPr id="8" name="arch_task_task2_1"/>
            <p:cNvSpPr/>
            <p:nvPr/>
          </p:nvSpPr>
          <p:spPr>
            <a:xfrm>
              <a:off x="4281396" y="4117791"/>
              <a:ext cx="1577600" cy="850000"/>
            </a:xfrm>
            <a:prstGeom prst="roundRect">
              <a:avLst/>
            </a:prstGeom>
            <a:solidFill>
              <a:srgbClr val="E86A17"/>
            </a:solidFill>
            <a:ln w="15875">
              <a:solidFill>
                <a:srgbClr val="B4500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>
                  <a:solidFill>
                    <a:srgbClr val="FFFFFF"/>
                  </a:solidFill>
                </a:rPr>
                <a:t>Task2_1</a:t>
              </a:r>
            </a:p>
            <a:p>
              <a:pPr algn="ctr"/>
              <a:r>
                <a:rPr sz="1100" b="0">
                  <a:solidFill>
                    <a:srgbClr val="FFFFFF"/>
                  </a:solidFill>
                </a:rPr>
                <a:t>Pfad abfahren</a:t>
              </a:r>
            </a:p>
          </p:txBody>
        </p:sp>
        <p:sp>
          <p:nvSpPr>
            <p:cNvPr id="9" name="arch_task_task2_2"/>
            <p:cNvSpPr/>
            <p:nvPr/>
          </p:nvSpPr>
          <p:spPr>
            <a:xfrm>
              <a:off x="4281396" y="5052791"/>
              <a:ext cx="1577600" cy="849999"/>
            </a:xfrm>
            <a:prstGeom prst="roundRect">
              <a:avLst/>
            </a:prstGeom>
            <a:solidFill>
              <a:srgbClr val="E86A17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 dirty="0">
                  <a:solidFill>
                    <a:schemeClr val="tx1"/>
                  </a:solidFill>
                </a:rPr>
                <a:t>Task2_2</a:t>
              </a:r>
            </a:p>
            <a:p>
              <a:pPr algn="ctr"/>
              <a:r>
                <a:rPr sz="1100" b="0" dirty="0" err="1">
                  <a:solidFill>
                    <a:schemeClr val="tx1"/>
                  </a:solidFill>
                </a:rPr>
                <a:t>Detektion</a:t>
              </a:r>
              <a:r>
                <a:rPr sz="1100" b="0" dirty="0">
                  <a:solidFill>
                    <a:schemeClr val="tx1"/>
                  </a:solidFill>
                </a:rPr>
                <a:t> + </a:t>
              </a:r>
              <a:r>
                <a:rPr sz="1100" b="0" dirty="0" err="1">
                  <a:solidFill>
                    <a:schemeClr val="tx1"/>
                  </a:solidFill>
                </a:rPr>
                <a:t>Validierung</a:t>
              </a:r>
              <a:endParaRPr sz="1100" b="0" dirty="0">
                <a:solidFill>
                  <a:schemeClr val="tx1"/>
                </a:solidFill>
              </a:endParaRPr>
            </a:p>
          </p:txBody>
        </p:sp>
        <p:sp>
          <p:nvSpPr>
            <p:cNvPr id="10" name="arch_task_task3"/>
            <p:cNvSpPr/>
            <p:nvPr/>
          </p:nvSpPr>
          <p:spPr>
            <a:xfrm>
              <a:off x="6253395" y="4287791"/>
              <a:ext cx="1577600" cy="1445000"/>
            </a:xfrm>
            <a:prstGeom prst="roundRect">
              <a:avLst/>
            </a:prstGeom>
            <a:solidFill>
              <a:srgbClr val="DAE3F3"/>
            </a:solidFill>
            <a:ln w="22225">
              <a:solidFill>
                <a:srgbClr val="2E8B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>
                  <a:solidFill>
                    <a:srgbClr val="1F3355"/>
                  </a:solidFill>
                </a:rPr>
                <a:t>Task3</a:t>
              </a:r>
            </a:p>
            <a:p>
              <a:pPr algn="ctr"/>
              <a:r>
                <a:rPr sz="1100" b="0">
                  <a:solidFill>
                    <a:srgbClr val="1F3355"/>
                  </a:solidFill>
                </a:rPr>
                <a:t>Witz · Agent</a:t>
              </a:r>
            </a:p>
          </p:txBody>
        </p:sp>
        <p:sp>
          <p:nvSpPr>
            <p:cNvPr id="11" name="arch_task_task4"/>
            <p:cNvSpPr/>
            <p:nvPr/>
          </p:nvSpPr>
          <p:spPr>
            <a:xfrm>
              <a:off x="8225396" y="4287791"/>
              <a:ext cx="1577600" cy="1445000"/>
            </a:xfrm>
            <a:prstGeom prst="roundRect">
              <a:avLst/>
            </a:prstGeom>
            <a:solidFill>
              <a:srgbClr val="DAE3F3"/>
            </a:solidFill>
            <a:ln w="22225">
              <a:solidFill>
                <a:srgbClr val="2E8B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 dirty="0">
                  <a:solidFill>
                    <a:srgbClr val="1F3355"/>
                  </a:solidFill>
                </a:rPr>
                <a:t>Task4</a:t>
              </a:r>
            </a:p>
            <a:p>
              <a:pPr algn="ctr"/>
              <a:r>
                <a:rPr lang="de-DE" sz="1100" b="0" dirty="0">
                  <a:solidFill>
                    <a:srgbClr val="1F3355"/>
                  </a:solidFill>
                </a:rPr>
                <a:t>Müllpfadplan</a:t>
              </a:r>
              <a:r>
                <a:rPr sz="1100" b="0" dirty="0">
                  <a:solidFill>
                    <a:srgbClr val="1F3355"/>
                  </a:solidFill>
                </a:rPr>
                <a:t>· Agent</a:t>
              </a:r>
            </a:p>
          </p:txBody>
        </p:sp>
        <p:sp>
          <p:nvSpPr>
            <p:cNvPr id="12" name="arch_task_task5"/>
            <p:cNvSpPr/>
            <p:nvPr/>
          </p:nvSpPr>
          <p:spPr>
            <a:xfrm>
              <a:off x="10197396" y="4117791"/>
              <a:ext cx="1577600" cy="850000"/>
            </a:xfrm>
            <a:prstGeom prst="roundRect">
              <a:avLst/>
            </a:prstGeom>
            <a:solidFill>
              <a:srgbClr val="DAE3F3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 dirty="0">
                  <a:solidFill>
                    <a:srgbClr val="1F3355"/>
                  </a:solidFill>
                </a:rPr>
                <a:t>Task5</a:t>
              </a:r>
            </a:p>
            <a:p>
              <a:pPr algn="ctr"/>
              <a:r>
                <a:rPr lang="de-DE" sz="1100" dirty="0" err="1">
                  <a:solidFill>
                    <a:srgbClr val="1F3355"/>
                  </a:solidFill>
                </a:rPr>
                <a:t>Müllp</a:t>
              </a:r>
              <a:r>
                <a:rPr sz="1100" b="0" dirty="0" err="1">
                  <a:solidFill>
                    <a:srgbClr val="1F3355"/>
                  </a:solidFill>
                </a:rPr>
                <a:t>unkte</a:t>
              </a:r>
              <a:r>
                <a:rPr sz="1100" b="0" dirty="0">
                  <a:solidFill>
                    <a:srgbClr val="1F3355"/>
                  </a:solidFill>
                </a:rPr>
                <a:t> </a:t>
              </a:r>
              <a:r>
                <a:rPr sz="1100" b="0" dirty="0" err="1">
                  <a:solidFill>
                    <a:srgbClr val="1F3355"/>
                  </a:solidFill>
                </a:rPr>
                <a:t>anfahren</a:t>
              </a:r>
              <a:endParaRPr sz="1100" b="0" dirty="0">
                <a:solidFill>
                  <a:srgbClr val="1F3355"/>
                </a:solidFill>
              </a:endParaRPr>
            </a:p>
          </p:txBody>
        </p:sp>
        <p:sp>
          <p:nvSpPr>
            <p:cNvPr id="13" name="arch_task_task6"/>
            <p:cNvSpPr/>
            <p:nvPr/>
          </p:nvSpPr>
          <p:spPr>
            <a:xfrm>
              <a:off x="10197396" y="5052791"/>
              <a:ext cx="1577600" cy="849999"/>
            </a:xfrm>
            <a:prstGeom prst="roundRect">
              <a:avLst/>
            </a:prstGeom>
            <a:solidFill>
              <a:srgbClr val="DAE3F3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>
                  <a:solidFill>
                    <a:srgbClr val="1F3355"/>
                  </a:solidFill>
                </a:rPr>
                <a:t>Task6</a:t>
              </a:r>
            </a:p>
            <a:p>
              <a:pPr algn="ctr"/>
              <a:r>
                <a:rPr sz="1100" b="0">
                  <a:solidFill>
                    <a:srgbClr val="1F3355"/>
                  </a:solidFill>
                </a:rPr>
                <a:t>Abschluss-Emote</a:t>
              </a:r>
            </a:p>
          </p:txBody>
        </p:sp>
        <p:cxnSp>
          <p:nvCxnSpPr>
            <p:cNvPr id="14" name="arch_ctrl"/>
            <p:cNvCxnSpPr/>
            <p:nvPr/>
          </p:nvCxnSpPr>
          <p:spPr>
            <a:xfrm>
              <a:off x="1126196" y="3607791"/>
              <a:ext cx="0" cy="68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arch_ctrl"/>
            <p:cNvCxnSpPr/>
            <p:nvPr/>
          </p:nvCxnSpPr>
          <p:spPr>
            <a:xfrm>
              <a:off x="3098196" y="3607791"/>
              <a:ext cx="0" cy="68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arch_ctrl"/>
            <p:cNvCxnSpPr/>
            <p:nvPr/>
          </p:nvCxnSpPr>
          <p:spPr>
            <a:xfrm>
              <a:off x="5070196" y="3607791"/>
              <a:ext cx="0" cy="51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arch_ctrl"/>
            <p:cNvCxnSpPr/>
            <p:nvPr/>
          </p:nvCxnSpPr>
          <p:spPr>
            <a:xfrm>
              <a:off x="5070196" y="3607791"/>
              <a:ext cx="0" cy="1445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arch_ctrl"/>
            <p:cNvCxnSpPr/>
            <p:nvPr/>
          </p:nvCxnSpPr>
          <p:spPr>
            <a:xfrm>
              <a:off x="7042195" y="3607791"/>
              <a:ext cx="0" cy="68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arch_ctrl"/>
            <p:cNvCxnSpPr/>
            <p:nvPr/>
          </p:nvCxnSpPr>
          <p:spPr>
            <a:xfrm>
              <a:off x="9014196" y="3607791"/>
              <a:ext cx="0" cy="68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arch_ctrl"/>
            <p:cNvCxnSpPr/>
            <p:nvPr/>
          </p:nvCxnSpPr>
          <p:spPr>
            <a:xfrm>
              <a:off x="10986196" y="3607791"/>
              <a:ext cx="0" cy="51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arch_ctrl"/>
            <p:cNvCxnSpPr/>
            <p:nvPr/>
          </p:nvCxnSpPr>
          <p:spPr>
            <a:xfrm>
              <a:off x="10986196" y="3607791"/>
              <a:ext cx="0" cy="1445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arch_conn"/>
            <p:cNvCxnSpPr/>
            <p:nvPr/>
          </p:nvCxnSpPr>
          <p:spPr>
            <a:xfrm>
              <a:off x="1914996" y="5010291"/>
              <a:ext cx="394400" cy="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arch_conn"/>
            <p:cNvCxnSpPr/>
            <p:nvPr/>
          </p:nvCxnSpPr>
          <p:spPr>
            <a:xfrm flipV="1">
              <a:off x="3886996" y="4542791"/>
              <a:ext cx="394400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arch_conn"/>
            <p:cNvCxnSpPr/>
            <p:nvPr/>
          </p:nvCxnSpPr>
          <p:spPr>
            <a:xfrm>
              <a:off x="3886996" y="5010291"/>
              <a:ext cx="394400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arch_conn"/>
            <p:cNvCxnSpPr/>
            <p:nvPr/>
          </p:nvCxnSpPr>
          <p:spPr>
            <a:xfrm>
              <a:off x="5858996" y="4542791"/>
              <a:ext cx="394399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arch_conn"/>
            <p:cNvCxnSpPr/>
            <p:nvPr/>
          </p:nvCxnSpPr>
          <p:spPr>
            <a:xfrm flipV="1">
              <a:off x="5858996" y="5010291"/>
              <a:ext cx="394399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arch_conn"/>
            <p:cNvCxnSpPr/>
            <p:nvPr/>
          </p:nvCxnSpPr>
          <p:spPr>
            <a:xfrm>
              <a:off x="7830995" y="5010291"/>
              <a:ext cx="394401" cy="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arch_conn"/>
            <p:cNvCxnSpPr/>
            <p:nvPr/>
          </p:nvCxnSpPr>
          <p:spPr>
            <a:xfrm flipV="1">
              <a:off x="9802996" y="4542791"/>
              <a:ext cx="394400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arch_conn"/>
            <p:cNvCxnSpPr/>
            <p:nvPr/>
          </p:nvCxnSpPr>
          <p:spPr>
            <a:xfrm>
              <a:off x="9802996" y="5010291"/>
              <a:ext cx="394400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arch_zenoh"/>
            <p:cNvSpPr/>
            <p:nvPr/>
          </p:nvSpPr>
          <p:spPr>
            <a:xfrm>
              <a:off x="252196" y="6059755"/>
              <a:ext cx="11600000" cy="510000"/>
            </a:xfrm>
            <a:prstGeom prst="roundRect">
              <a:avLst/>
            </a:prstGeom>
            <a:solidFill>
              <a:srgbClr val="2E5496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100" b="1" dirty="0" err="1">
                  <a:solidFill>
                    <a:srgbClr val="FFFFFF"/>
                  </a:solidFill>
                </a:rPr>
                <a:t>Zenoh</a:t>
              </a:r>
              <a:r>
                <a:rPr sz="1100" b="1" dirty="0">
                  <a:solidFill>
                    <a:srgbClr val="FFFFFF"/>
                  </a:solidFill>
                </a:rPr>
                <a:t>-Bus  ·  Kamera  ·  Inference  ·  </a:t>
              </a:r>
              <a:r>
                <a:rPr sz="1100" b="1" dirty="0" err="1">
                  <a:solidFill>
                    <a:srgbClr val="FFFFFF"/>
                  </a:solidFill>
                </a:rPr>
                <a:t>Agenten</a:t>
              </a:r>
              <a:r>
                <a:rPr sz="1100" b="1" dirty="0">
                  <a:solidFill>
                    <a:srgbClr val="FFFFFF"/>
                  </a:solidFill>
                </a:rPr>
                <a:t> (</a:t>
              </a:r>
              <a:r>
                <a:rPr sz="1100" b="1" dirty="0" err="1">
                  <a:solidFill>
                    <a:srgbClr val="FFFFFF"/>
                  </a:solidFill>
                </a:rPr>
                <a:t>Ollama</a:t>
              </a:r>
              <a:r>
                <a:rPr sz="1100" b="1" dirty="0">
                  <a:solidFill>
                    <a:srgbClr val="FFFFFF"/>
                  </a:solidFill>
                </a:rPr>
                <a:t>)  ·  Navigation  ·  Robodog/Go2  ·  Mensch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7934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DCEF59-52A2-FD43-F30C-2207D04E4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Task2_1 und Task2_2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0C9A03-A18E-B39D-4316-08D4DB674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50000"/>
          </a:xfrm>
        </p:spPr>
        <p:txBody>
          <a:bodyPr wrap="square">
            <a:normAutofit fontScale="92500" lnSpcReduction="10000"/>
          </a:bodyPr>
          <a:lstStyle/>
          <a:p>
            <a:r>
              <a:rPr lang="de-DE" sz="1800" dirty="0"/>
              <a:t>Frames aus Queue werden auf Maske </a:t>
            </a:r>
            <a:r>
              <a:rPr lang="de-DE" sz="1800" dirty="0" err="1"/>
              <a:t>gecropped</a:t>
            </a:r>
            <a:endParaRPr lang="de-DE" sz="1800" dirty="0"/>
          </a:p>
          <a:p>
            <a:r>
              <a:rPr lang="de-DE" sz="1800" dirty="0"/>
              <a:t>Validierung über KI-Agenten mit </a:t>
            </a:r>
            <a:r>
              <a:rPr lang="de-DE" sz="1800" dirty="0" err="1"/>
              <a:t>Ollama</a:t>
            </a:r>
            <a:r>
              <a:rPr lang="de-DE" sz="1800" dirty="0"/>
              <a:t> ()</a:t>
            </a:r>
          </a:p>
          <a:p>
            <a:r>
              <a:rPr lang="de-DE" sz="1800" dirty="0"/>
              <a:t>Position (</a:t>
            </a:r>
            <a:r>
              <a:rPr lang="de-DE" sz="1800" dirty="0" err="1"/>
              <a:t>Odometry</a:t>
            </a:r>
            <a:r>
              <a:rPr lang="de-DE" sz="1800" dirty="0"/>
              <a:t>-Hund) wird würd für validierte Frames gespeichert</a:t>
            </a:r>
          </a:p>
          <a:p>
            <a:r>
              <a:rPr lang="de-DE" sz="1800" dirty="0"/>
              <a:t>Task2_2 läuft bis Frame Queue leer ist</a:t>
            </a:r>
          </a:p>
        </p:txBody>
      </p:sp>
      <p:grpSp>
        <p:nvGrpSpPr>
          <p:cNvPr id="4" name="arch_group">
            <a:extLst>
              <a:ext uri="{FF2B5EF4-FFF2-40B4-BE49-F238E27FC236}">
                <a16:creationId xmlns:a16="http://schemas.microsoft.com/office/drawing/2014/main" id="{8E5B778B-F3C6-0CF3-A35D-B7D4042DC6D1}"/>
              </a:ext>
            </a:extLst>
          </p:cNvPr>
          <p:cNvGrpSpPr/>
          <p:nvPr/>
        </p:nvGrpSpPr>
        <p:grpSpPr>
          <a:xfrm>
            <a:off x="1114358" y="3520000"/>
            <a:ext cx="9963283" cy="3200000"/>
            <a:chOff x="252196" y="2842791"/>
            <a:chExt cx="11604000" cy="3726964"/>
          </a:xfrm>
        </p:grpSpPr>
        <p:sp>
          <p:nvSpPr>
            <p:cNvPr id="5" name="arch_orch"/>
            <p:cNvSpPr/>
            <p:nvPr/>
          </p:nvSpPr>
          <p:spPr>
            <a:xfrm>
              <a:off x="256196" y="2842791"/>
              <a:ext cx="11600000" cy="765000"/>
            </a:xfrm>
            <a:prstGeom prst="roundRect">
              <a:avLst/>
            </a:prstGeom>
            <a:solidFill>
              <a:srgbClr val="2E5496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400" b="1" dirty="0">
                  <a:solidFill>
                    <a:srgbClr val="FFFFFF"/>
                  </a:solidFill>
                </a:rPr>
                <a:t>Orchestrator + Worker</a:t>
              </a:r>
            </a:p>
            <a:p>
              <a:pPr algn="ctr"/>
              <a:r>
                <a:rPr sz="1100" b="0" dirty="0" err="1">
                  <a:solidFill>
                    <a:srgbClr val="FFFFFF"/>
                  </a:solidFill>
                </a:rPr>
                <a:t>startet</a:t>
              </a:r>
              <a:r>
                <a:rPr sz="1100" b="0" dirty="0">
                  <a:solidFill>
                    <a:srgbClr val="FFFFFF"/>
                  </a:solidFill>
                </a:rPr>
                <a:t> &amp; </a:t>
              </a:r>
              <a:r>
                <a:rPr sz="1100" b="0" dirty="0" err="1">
                  <a:solidFill>
                    <a:srgbClr val="FFFFFF"/>
                  </a:solidFill>
                </a:rPr>
                <a:t>stoppt</a:t>
              </a:r>
              <a:r>
                <a:rPr sz="1100" b="0" dirty="0">
                  <a:solidFill>
                    <a:srgbClr val="FFFFFF"/>
                  </a:solidFill>
                </a:rPr>
                <a:t> </a:t>
              </a:r>
              <a:r>
                <a:rPr sz="1100" b="0" dirty="0" err="1">
                  <a:solidFill>
                    <a:srgbClr val="FFFFFF"/>
                  </a:solidFill>
                </a:rPr>
                <a:t>jede</a:t>
              </a:r>
              <a:r>
                <a:rPr sz="1100" b="0" dirty="0">
                  <a:solidFill>
                    <a:srgbClr val="FFFFFF"/>
                  </a:solidFill>
                </a:rPr>
                <a:t> Task · pipeline/*/start → done</a:t>
              </a:r>
            </a:p>
          </p:txBody>
        </p:sp>
        <p:sp>
          <p:nvSpPr>
            <p:cNvPr id="6" name="arch_task_task0"/>
            <p:cNvSpPr/>
            <p:nvPr/>
          </p:nvSpPr>
          <p:spPr>
            <a:xfrm>
              <a:off x="337395" y="4287791"/>
              <a:ext cx="1577600" cy="1445000"/>
            </a:xfrm>
            <a:prstGeom prst="roundRect">
              <a:avLst/>
            </a:prstGeom>
            <a:solidFill>
              <a:srgbClr val="DAE3F3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>
                  <a:solidFill>
                    <a:srgbClr val="1F3355"/>
                  </a:solidFill>
                </a:rPr>
                <a:t>Task0</a:t>
              </a:r>
            </a:p>
            <a:p>
              <a:pPr algn="ctr"/>
              <a:r>
                <a:rPr sz="1100" b="0">
                  <a:solidFill>
                    <a:srgbClr val="1F3355"/>
                  </a:solidFill>
                </a:rPr>
                <a:t>Suchfeld-Eingabe</a:t>
              </a:r>
            </a:p>
          </p:txBody>
        </p:sp>
        <p:sp>
          <p:nvSpPr>
            <p:cNvPr id="7" name="arch_task_task1"/>
            <p:cNvSpPr/>
            <p:nvPr/>
          </p:nvSpPr>
          <p:spPr>
            <a:xfrm>
              <a:off x="2309396" y="4287791"/>
              <a:ext cx="1577600" cy="1445000"/>
            </a:xfrm>
            <a:prstGeom prst="roundRect">
              <a:avLst/>
            </a:prstGeom>
            <a:solidFill>
              <a:srgbClr val="DAE3F3"/>
            </a:solidFill>
            <a:ln w="22225">
              <a:solidFill>
                <a:srgbClr val="2E8B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>
                  <a:solidFill>
                    <a:srgbClr val="1F3355"/>
                  </a:solidFill>
                </a:rPr>
                <a:t>Task1</a:t>
              </a:r>
            </a:p>
            <a:p>
              <a:pPr algn="ctr"/>
              <a:r>
                <a:rPr sz="1100" b="0">
                  <a:solidFill>
                    <a:srgbClr val="1F3355"/>
                  </a:solidFill>
                </a:rPr>
                <a:t>Pfadplan · Agent</a:t>
              </a:r>
            </a:p>
          </p:txBody>
        </p:sp>
        <p:sp>
          <p:nvSpPr>
            <p:cNvPr id="8" name="arch_task_task2_1"/>
            <p:cNvSpPr/>
            <p:nvPr/>
          </p:nvSpPr>
          <p:spPr>
            <a:xfrm>
              <a:off x="4281396" y="4117791"/>
              <a:ext cx="1577600" cy="850000"/>
            </a:xfrm>
            <a:prstGeom prst="roundRect">
              <a:avLst/>
            </a:prstGeom>
            <a:solidFill>
              <a:srgbClr val="E86A17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 dirty="0">
                  <a:solidFill>
                    <a:schemeClr val="tx1"/>
                  </a:solidFill>
                </a:rPr>
                <a:t>Task2_1</a:t>
              </a:r>
            </a:p>
            <a:p>
              <a:pPr algn="ctr"/>
              <a:r>
                <a:rPr sz="1100" b="0" dirty="0" err="1">
                  <a:solidFill>
                    <a:schemeClr val="tx1"/>
                  </a:solidFill>
                </a:rPr>
                <a:t>Pfad</a:t>
              </a:r>
              <a:r>
                <a:rPr sz="1100" b="0" dirty="0">
                  <a:solidFill>
                    <a:schemeClr val="tx1"/>
                  </a:solidFill>
                </a:rPr>
                <a:t> </a:t>
              </a:r>
              <a:r>
                <a:rPr sz="1100" b="0" dirty="0" err="1">
                  <a:solidFill>
                    <a:schemeClr val="tx1"/>
                  </a:solidFill>
                </a:rPr>
                <a:t>abfahren</a:t>
              </a:r>
              <a:endParaRPr sz="1100" b="0" dirty="0">
                <a:solidFill>
                  <a:schemeClr val="tx1"/>
                </a:solidFill>
              </a:endParaRPr>
            </a:p>
          </p:txBody>
        </p:sp>
        <p:sp>
          <p:nvSpPr>
            <p:cNvPr id="9" name="arch_task_task2_2"/>
            <p:cNvSpPr/>
            <p:nvPr/>
          </p:nvSpPr>
          <p:spPr>
            <a:xfrm>
              <a:off x="4281396" y="5052791"/>
              <a:ext cx="1577600" cy="849999"/>
            </a:xfrm>
            <a:prstGeom prst="roundRect">
              <a:avLst/>
            </a:prstGeom>
            <a:solidFill>
              <a:srgbClr val="E86A17"/>
            </a:solidFill>
            <a:ln w="15875">
              <a:solidFill>
                <a:srgbClr val="B4500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>
                  <a:solidFill>
                    <a:srgbClr val="FFFFFF"/>
                  </a:solidFill>
                </a:rPr>
                <a:t>Task2_2</a:t>
              </a:r>
            </a:p>
            <a:p>
              <a:pPr algn="ctr"/>
              <a:r>
                <a:rPr sz="1100" b="0">
                  <a:solidFill>
                    <a:srgbClr val="FFFFFF"/>
                  </a:solidFill>
                </a:rPr>
                <a:t>Detektion + Validierung</a:t>
              </a:r>
            </a:p>
          </p:txBody>
        </p:sp>
        <p:sp>
          <p:nvSpPr>
            <p:cNvPr id="10" name="arch_task_task3"/>
            <p:cNvSpPr/>
            <p:nvPr/>
          </p:nvSpPr>
          <p:spPr>
            <a:xfrm>
              <a:off x="6253395" y="4287791"/>
              <a:ext cx="1577600" cy="1445000"/>
            </a:xfrm>
            <a:prstGeom prst="roundRect">
              <a:avLst/>
            </a:prstGeom>
            <a:solidFill>
              <a:srgbClr val="DAE3F3"/>
            </a:solidFill>
            <a:ln w="22225">
              <a:solidFill>
                <a:srgbClr val="2E8B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>
                  <a:solidFill>
                    <a:srgbClr val="1F3355"/>
                  </a:solidFill>
                </a:rPr>
                <a:t>Task3</a:t>
              </a:r>
            </a:p>
            <a:p>
              <a:pPr algn="ctr"/>
              <a:r>
                <a:rPr sz="1100" b="0">
                  <a:solidFill>
                    <a:srgbClr val="1F3355"/>
                  </a:solidFill>
                </a:rPr>
                <a:t>Witz · Agent</a:t>
              </a:r>
            </a:p>
          </p:txBody>
        </p:sp>
        <p:sp>
          <p:nvSpPr>
            <p:cNvPr id="11" name="arch_task_task4"/>
            <p:cNvSpPr/>
            <p:nvPr/>
          </p:nvSpPr>
          <p:spPr>
            <a:xfrm>
              <a:off x="8225396" y="4287791"/>
              <a:ext cx="1577600" cy="1445000"/>
            </a:xfrm>
            <a:prstGeom prst="roundRect">
              <a:avLst/>
            </a:prstGeom>
            <a:solidFill>
              <a:srgbClr val="DAE3F3"/>
            </a:solidFill>
            <a:ln w="22225">
              <a:solidFill>
                <a:srgbClr val="2E8B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 dirty="0">
                  <a:solidFill>
                    <a:srgbClr val="1F3355"/>
                  </a:solidFill>
                </a:rPr>
                <a:t>Task4</a:t>
              </a:r>
            </a:p>
            <a:p>
              <a:pPr algn="ctr"/>
              <a:r>
                <a:rPr lang="de-DE" sz="1100" b="0" dirty="0">
                  <a:solidFill>
                    <a:srgbClr val="1F3355"/>
                  </a:solidFill>
                </a:rPr>
                <a:t>Müllpfadplan</a:t>
              </a:r>
              <a:r>
                <a:rPr sz="1100" b="0" dirty="0">
                  <a:solidFill>
                    <a:srgbClr val="1F3355"/>
                  </a:solidFill>
                </a:rPr>
                <a:t>· Agent</a:t>
              </a:r>
            </a:p>
          </p:txBody>
        </p:sp>
        <p:sp>
          <p:nvSpPr>
            <p:cNvPr id="12" name="arch_task_task5"/>
            <p:cNvSpPr/>
            <p:nvPr/>
          </p:nvSpPr>
          <p:spPr>
            <a:xfrm>
              <a:off x="10197396" y="4117791"/>
              <a:ext cx="1577600" cy="850000"/>
            </a:xfrm>
            <a:prstGeom prst="roundRect">
              <a:avLst/>
            </a:prstGeom>
            <a:solidFill>
              <a:srgbClr val="DAE3F3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 dirty="0">
                  <a:solidFill>
                    <a:srgbClr val="1F3355"/>
                  </a:solidFill>
                </a:rPr>
                <a:t>Task5</a:t>
              </a:r>
            </a:p>
            <a:p>
              <a:pPr algn="ctr"/>
              <a:r>
                <a:rPr lang="de-DE" sz="1100" dirty="0" err="1">
                  <a:solidFill>
                    <a:srgbClr val="1F3355"/>
                  </a:solidFill>
                </a:rPr>
                <a:t>Müllp</a:t>
              </a:r>
              <a:r>
                <a:rPr sz="1100" b="0" dirty="0" err="1">
                  <a:solidFill>
                    <a:srgbClr val="1F3355"/>
                  </a:solidFill>
                </a:rPr>
                <a:t>unkte</a:t>
              </a:r>
              <a:r>
                <a:rPr sz="1100" b="0" dirty="0">
                  <a:solidFill>
                    <a:srgbClr val="1F3355"/>
                  </a:solidFill>
                </a:rPr>
                <a:t> </a:t>
              </a:r>
              <a:r>
                <a:rPr sz="1100" b="0" dirty="0" err="1">
                  <a:solidFill>
                    <a:srgbClr val="1F3355"/>
                  </a:solidFill>
                </a:rPr>
                <a:t>anfahren</a:t>
              </a:r>
              <a:endParaRPr sz="1100" b="0" dirty="0">
                <a:solidFill>
                  <a:srgbClr val="1F3355"/>
                </a:solidFill>
              </a:endParaRPr>
            </a:p>
          </p:txBody>
        </p:sp>
        <p:sp>
          <p:nvSpPr>
            <p:cNvPr id="13" name="arch_task_task6"/>
            <p:cNvSpPr/>
            <p:nvPr/>
          </p:nvSpPr>
          <p:spPr>
            <a:xfrm>
              <a:off x="10197396" y="5052791"/>
              <a:ext cx="1577600" cy="849999"/>
            </a:xfrm>
            <a:prstGeom prst="roundRect">
              <a:avLst/>
            </a:prstGeom>
            <a:solidFill>
              <a:srgbClr val="DAE3F3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>
                  <a:solidFill>
                    <a:srgbClr val="1F3355"/>
                  </a:solidFill>
                </a:rPr>
                <a:t>Task6</a:t>
              </a:r>
            </a:p>
            <a:p>
              <a:pPr algn="ctr"/>
              <a:r>
                <a:rPr sz="1100" b="0">
                  <a:solidFill>
                    <a:srgbClr val="1F3355"/>
                  </a:solidFill>
                </a:rPr>
                <a:t>Abschluss-Emote</a:t>
              </a:r>
            </a:p>
          </p:txBody>
        </p:sp>
        <p:cxnSp>
          <p:nvCxnSpPr>
            <p:cNvPr id="14" name="arch_ctrl"/>
            <p:cNvCxnSpPr/>
            <p:nvPr/>
          </p:nvCxnSpPr>
          <p:spPr>
            <a:xfrm>
              <a:off x="1126196" y="3607791"/>
              <a:ext cx="0" cy="68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arch_ctrl"/>
            <p:cNvCxnSpPr/>
            <p:nvPr/>
          </p:nvCxnSpPr>
          <p:spPr>
            <a:xfrm>
              <a:off x="3098196" y="3607791"/>
              <a:ext cx="0" cy="68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arch_ctrl"/>
            <p:cNvCxnSpPr/>
            <p:nvPr/>
          </p:nvCxnSpPr>
          <p:spPr>
            <a:xfrm>
              <a:off x="5070196" y="3607791"/>
              <a:ext cx="0" cy="51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arch_ctrl"/>
            <p:cNvCxnSpPr/>
            <p:nvPr/>
          </p:nvCxnSpPr>
          <p:spPr>
            <a:xfrm>
              <a:off x="5070196" y="3607791"/>
              <a:ext cx="0" cy="1445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arch_ctrl"/>
            <p:cNvCxnSpPr/>
            <p:nvPr/>
          </p:nvCxnSpPr>
          <p:spPr>
            <a:xfrm>
              <a:off x="7042195" y="3607791"/>
              <a:ext cx="0" cy="68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arch_ctrl"/>
            <p:cNvCxnSpPr/>
            <p:nvPr/>
          </p:nvCxnSpPr>
          <p:spPr>
            <a:xfrm>
              <a:off x="9014196" y="3607791"/>
              <a:ext cx="0" cy="68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arch_ctrl"/>
            <p:cNvCxnSpPr/>
            <p:nvPr/>
          </p:nvCxnSpPr>
          <p:spPr>
            <a:xfrm>
              <a:off x="10986196" y="3607791"/>
              <a:ext cx="0" cy="51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arch_ctrl"/>
            <p:cNvCxnSpPr/>
            <p:nvPr/>
          </p:nvCxnSpPr>
          <p:spPr>
            <a:xfrm>
              <a:off x="10986196" y="3607791"/>
              <a:ext cx="0" cy="1445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arch_conn"/>
            <p:cNvCxnSpPr/>
            <p:nvPr/>
          </p:nvCxnSpPr>
          <p:spPr>
            <a:xfrm>
              <a:off x="1914996" y="5010291"/>
              <a:ext cx="394400" cy="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arch_conn"/>
            <p:cNvCxnSpPr/>
            <p:nvPr/>
          </p:nvCxnSpPr>
          <p:spPr>
            <a:xfrm flipV="1">
              <a:off x="3886996" y="4542791"/>
              <a:ext cx="394400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arch_conn"/>
            <p:cNvCxnSpPr/>
            <p:nvPr/>
          </p:nvCxnSpPr>
          <p:spPr>
            <a:xfrm>
              <a:off x="3886996" y="5010291"/>
              <a:ext cx="394400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arch_conn"/>
            <p:cNvCxnSpPr/>
            <p:nvPr/>
          </p:nvCxnSpPr>
          <p:spPr>
            <a:xfrm>
              <a:off x="5858996" y="4542791"/>
              <a:ext cx="394399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arch_conn"/>
            <p:cNvCxnSpPr/>
            <p:nvPr/>
          </p:nvCxnSpPr>
          <p:spPr>
            <a:xfrm flipV="1">
              <a:off x="5858996" y="5010291"/>
              <a:ext cx="394399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arch_conn"/>
            <p:cNvCxnSpPr/>
            <p:nvPr/>
          </p:nvCxnSpPr>
          <p:spPr>
            <a:xfrm>
              <a:off x="7830995" y="5010291"/>
              <a:ext cx="394401" cy="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arch_conn"/>
            <p:cNvCxnSpPr/>
            <p:nvPr/>
          </p:nvCxnSpPr>
          <p:spPr>
            <a:xfrm flipV="1">
              <a:off x="9802996" y="4542791"/>
              <a:ext cx="394400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arch_conn"/>
            <p:cNvCxnSpPr/>
            <p:nvPr/>
          </p:nvCxnSpPr>
          <p:spPr>
            <a:xfrm>
              <a:off x="9802996" y="5010291"/>
              <a:ext cx="394400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arch_zenoh"/>
            <p:cNvSpPr/>
            <p:nvPr/>
          </p:nvSpPr>
          <p:spPr>
            <a:xfrm>
              <a:off x="252196" y="6059755"/>
              <a:ext cx="11600000" cy="510000"/>
            </a:xfrm>
            <a:prstGeom prst="roundRect">
              <a:avLst/>
            </a:prstGeom>
            <a:solidFill>
              <a:srgbClr val="2E5496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100" b="1" dirty="0" err="1">
                  <a:solidFill>
                    <a:srgbClr val="FFFFFF"/>
                  </a:solidFill>
                </a:rPr>
                <a:t>Zenoh</a:t>
              </a:r>
              <a:r>
                <a:rPr sz="1100" b="1" dirty="0">
                  <a:solidFill>
                    <a:srgbClr val="FFFFFF"/>
                  </a:solidFill>
                </a:rPr>
                <a:t>-Bus  ·  Kamera  ·  Inference  ·  </a:t>
              </a:r>
              <a:r>
                <a:rPr sz="1100" b="1" dirty="0" err="1">
                  <a:solidFill>
                    <a:srgbClr val="FFFFFF"/>
                  </a:solidFill>
                </a:rPr>
                <a:t>Agenten</a:t>
              </a:r>
              <a:r>
                <a:rPr sz="1100" b="1" dirty="0">
                  <a:solidFill>
                    <a:srgbClr val="FFFFFF"/>
                  </a:solidFill>
                </a:rPr>
                <a:t> (</a:t>
              </a:r>
              <a:r>
                <a:rPr sz="1100" b="1" dirty="0" err="1">
                  <a:solidFill>
                    <a:srgbClr val="FFFFFF"/>
                  </a:solidFill>
                </a:rPr>
                <a:t>Ollama</a:t>
              </a:r>
              <a:r>
                <a:rPr sz="1100" b="1" dirty="0">
                  <a:solidFill>
                    <a:srgbClr val="FFFFFF"/>
                  </a:solidFill>
                </a:rPr>
                <a:t>)  ·  Navigation  ·  Robodog/Go2  ·  Mensch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30894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E0CC1E-8016-F902-9AD3-00B926A6B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Task3 und Task4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5B9D8FD-E9F7-0BDE-15CB-A4A8E2806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50000"/>
          </a:xfrm>
        </p:spPr>
        <p:txBody>
          <a:bodyPr wrap="square">
            <a:normAutofit/>
          </a:bodyPr>
          <a:lstStyle/>
          <a:p>
            <a:r>
              <a:rPr sz="1800" dirty="0"/>
              <a:t>Task3: </a:t>
            </a:r>
            <a:r>
              <a:rPr lang="de-DE" sz="1800" dirty="0" err="1"/>
              <a:t>Müllwitz</a:t>
            </a:r>
            <a:r>
              <a:rPr sz="1800" dirty="0"/>
              <a:t> </a:t>
            </a:r>
            <a:r>
              <a:rPr lang="de-DE" sz="1800" dirty="0"/>
              <a:t>aus Anzahl Müll, KI-Agent mit </a:t>
            </a:r>
            <a:r>
              <a:rPr lang="de-DE" sz="1800" dirty="0" err="1"/>
              <a:t>Ollama</a:t>
            </a:r>
            <a:r>
              <a:rPr lang="de-DE" sz="1800" dirty="0"/>
              <a:t> (qwen2.5:7b)</a:t>
            </a:r>
          </a:p>
          <a:p>
            <a:r>
              <a:rPr lang="de-DE" sz="1800" dirty="0"/>
              <a:t>Task4: </a:t>
            </a:r>
            <a:r>
              <a:rPr lang="de-DE" sz="1800" dirty="0" err="1"/>
              <a:t>Pfadplanner</a:t>
            </a:r>
            <a:r>
              <a:rPr lang="de-DE" sz="1800" dirty="0"/>
              <a:t> für ablaufen der erkannten Müll Punkte</a:t>
            </a:r>
          </a:p>
          <a:p>
            <a:r>
              <a:rPr lang="de-DE" sz="1800" dirty="0"/>
              <a:t>Task4: KI-Agent mit </a:t>
            </a:r>
            <a:r>
              <a:rPr lang="de-DE" sz="1800" dirty="0" err="1"/>
              <a:t>Ollama</a:t>
            </a:r>
            <a:r>
              <a:rPr lang="de-DE" sz="1800" dirty="0"/>
              <a:t> (qwen2.5:7b)</a:t>
            </a:r>
            <a:endParaRPr sz="1800" dirty="0"/>
          </a:p>
        </p:txBody>
      </p:sp>
      <p:grpSp>
        <p:nvGrpSpPr>
          <p:cNvPr id="4" name="arch_group">
            <a:extLst>
              <a:ext uri="{FF2B5EF4-FFF2-40B4-BE49-F238E27FC236}">
                <a16:creationId xmlns:a16="http://schemas.microsoft.com/office/drawing/2014/main" id="{8E5B778B-F3C6-0CF3-A35D-B7D4042DC6D1}"/>
              </a:ext>
            </a:extLst>
          </p:cNvPr>
          <p:cNvGrpSpPr/>
          <p:nvPr/>
        </p:nvGrpSpPr>
        <p:grpSpPr>
          <a:xfrm>
            <a:off x="1114358" y="3520000"/>
            <a:ext cx="9963283" cy="3200000"/>
            <a:chOff x="252196" y="2842791"/>
            <a:chExt cx="11604000" cy="3726964"/>
          </a:xfrm>
        </p:grpSpPr>
        <p:sp>
          <p:nvSpPr>
            <p:cNvPr id="5" name="arch_orch"/>
            <p:cNvSpPr/>
            <p:nvPr/>
          </p:nvSpPr>
          <p:spPr>
            <a:xfrm>
              <a:off x="256196" y="2842791"/>
              <a:ext cx="11600000" cy="765000"/>
            </a:xfrm>
            <a:prstGeom prst="roundRect">
              <a:avLst/>
            </a:prstGeom>
            <a:solidFill>
              <a:srgbClr val="2E5496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400" b="1" dirty="0">
                  <a:solidFill>
                    <a:srgbClr val="FFFFFF"/>
                  </a:solidFill>
                </a:rPr>
                <a:t>Orchestrator + Worker</a:t>
              </a:r>
            </a:p>
            <a:p>
              <a:pPr algn="ctr"/>
              <a:r>
                <a:rPr sz="1100" b="0" dirty="0" err="1">
                  <a:solidFill>
                    <a:srgbClr val="FFFFFF"/>
                  </a:solidFill>
                </a:rPr>
                <a:t>startet</a:t>
              </a:r>
              <a:r>
                <a:rPr sz="1100" b="0" dirty="0">
                  <a:solidFill>
                    <a:srgbClr val="FFFFFF"/>
                  </a:solidFill>
                </a:rPr>
                <a:t> &amp; </a:t>
              </a:r>
              <a:r>
                <a:rPr sz="1100" b="0" dirty="0" err="1">
                  <a:solidFill>
                    <a:srgbClr val="FFFFFF"/>
                  </a:solidFill>
                </a:rPr>
                <a:t>stoppt</a:t>
              </a:r>
              <a:r>
                <a:rPr sz="1100" b="0" dirty="0">
                  <a:solidFill>
                    <a:srgbClr val="FFFFFF"/>
                  </a:solidFill>
                </a:rPr>
                <a:t> </a:t>
              </a:r>
              <a:r>
                <a:rPr sz="1100" b="0" dirty="0" err="1">
                  <a:solidFill>
                    <a:srgbClr val="FFFFFF"/>
                  </a:solidFill>
                </a:rPr>
                <a:t>jede</a:t>
              </a:r>
              <a:r>
                <a:rPr sz="1100" b="0" dirty="0">
                  <a:solidFill>
                    <a:srgbClr val="FFFFFF"/>
                  </a:solidFill>
                </a:rPr>
                <a:t> Task · pipeline/*/start → done</a:t>
              </a:r>
            </a:p>
          </p:txBody>
        </p:sp>
        <p:sp>
          <p:nvSpPr>
            <p:cNvPr id="6" name="arch_task_task0"/>
            <p:cNvSpPr/>
            <p:nvPr/>
          </p:nvSpPr>
          <p:spPr>
            <a:xfrm>
              <a:off x="337395" y="4287791"/>
              <a:ext cx="1577600" cy="1445000"/>
            </a:xfrm>
            <a:prstGeom prst="roundRect">
              <a:avLst/>
            </a:prstGeom>
            <a:solidFill>
              <a:srgbClr val="DAE3F3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>
                  <a:solidFill>
                    <a:srgbClr val="1F3355"/>
                  </a:solidFill>
                </a:rPr>
                <a:t>Task0</a:t>
              </a:r>
            </a:p>
            <a:p>
              <a:pPr algn="ctr"/>
              <a:r>
                <a:rPr sz="1100" b="0">
                  <a:solidFill>
                    <a:srgbClr val="1F3355"/>
                  </a:solidFill>
                </a:rPr>
                <a:t>Suchfeld-Eingabe</a:t>
              </a:r>
            </a:p>
          </p:txBody>
        </p:sp>
        <p:sp>
          <p:nvSpPr>
            <p:cNvPr id="7" name="arch_task_task1"/>
            <p:cNvSpPr/>
            <p:nvPr/>
          </p:nvSpPr>
          <p:spPr>
            <a:xfrm>
              <a:off x="2309396" y="4287791"/>
              <a:ext cx="1577600" cy="1445000"/>
            </a:xfrm>
            <a:prstGeom prst="roundRect">
              <a:avLst/>
            </a:prstGeom>
            <a:solidFill>
              <a:srgbClr val="DAE3F3"/>
            </a:solidFill>
            <a:ln w="22225">
              <a:solidFill>
                <a:srgbClr val="2E8B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>
                  <a:solidFill>
                    <a:srgbClr val="1F3355"/>
                  </a:solidFill>
                </a:rPr>
                <a:t>Task1</a:t>
              </a:r>
            </a:p>
            <a:p>
              <a:pPr algn="ctr"/>
              <a:r>
                <a:rPr sz="1100" b="0">
                  <a:solidFill>
                    <a:srgbClr val="1F3355"/>
                  </a:solidFill>
                </a:rPr>
                <a:t>Pfadplan · Agent</a:t>
              </a:r>
            </a:p>
          </p:txBody>
        </p:sp>
        <p:sp>
          <p:nvSpPr>
            <p:cNvPr id="8" name="arch_task_task2_1"/>
            <p:cNvSpPr/>
            <p:nvPr/>
          </p:nvSpPr>
          <p:spPr>
            <a:xfrm>
              <a:off x="4281396" y="4117791"/>
              <a:ext cx="1577600" cy="850000"/>
            </a:xfrm>
            <a:prstGeom prst="roundRect">
              <a:avLst/>
            </a:prstGeom>
            <a:solidFill>
              <a:srgbClr val="DAE3F3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>
                  <a:solidFill>
                    <a:srgbClr val="1F3355"/>
                  </a:solidFill>
                </a:rPr>
                <a:t>Task2_1</a:t>
              </a:r>
            </a:p>
            <a:p>
              <a:pPr algn="ctr"/>
              <a:r>
                <a:rPr sz="1100" b="0">
                  <a:solidFill>
                    <a:srgbClr val="1F3355"/>
                  </a:solidFill>
                </a:rPr>
                <a:t>Pfad abfahren</a:t>
              </a:r>
            </a:p>
          </p:txBody>
        </p:sp>
        <p:sp>
          <p:nvSpPr>
            <p:cNvPr id="9" name="arch_task_task2_2"/>
            <p:cNvSpPr/>
            <p:nvPr/>
          </p:nvSpPr>
          <p:spPr>
            <a:xfrm>
              <a:off x="4281396" y="5052791"/>
              <a:ext cx="1577600" cy="849999"/>
            </a:xfrm>
            <a:prstGeom prst="roundRect">
              <a:avLst/>
            </a:prstGeom>
            <a:solidFill>
              <a:srgbClr val="DAE3F3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>
                  <a:solidFill>
                    <a:srgbClr val="1F3355"/>
                  </a:solidFill>
                </a:rPr>
                <a:t>Task2_2</a:t>
              </a:r>
            </a:p>
            <a:p>
              <a:pPr algn="ctr"/>
              <a:r>
                <a:rPr sz="1100" b="0">
                  <a:solidFill>
                    <a:srgbClr val="1F3355"/>
                  </a:solidFill>
                </a:rPr>
                <a:t>Detektion + Validierung</a:t>
              </a:r>
            </a:p>
          </p:txBody>
        </p:sp>
        <p:sp>
          <p:nvSpPr>
            <p:cNvPr id="10" name="arch_task_task3"/>
            <p:cNvSpPr/>
            <p:nvPr/>
          </p:nvSpPr>
          <p:spPr>
            <a:xfrm>
              <a:off x="6253395" y="4287791"/>
              <a:ext cx="1577600" cy="1445000"/>
            </a:xfrm>
            <a:prstGeom prst="roundRect">
              <a:avLst/>
            </a:prstGeom>
            <a:solidFill>
              <a:srgbClr val="E86A17"/>
            </a:solidFill>
            <a:ln w="22225">
              <a:solidFill>
                <a:srgbClr val="B4500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>
                  <a:solidFill>
                    <a:srgbClr val="FFFFFF"/>
                  </a:solidFill>
                </a:rPr>
                <a:t>Task3</a:t>
              </a:r>
            </a:p>
            <a:p>
              <a:pPr algn="ctr"/>
              <a:r>
                <a:rPr sz="1100" b="0">
                  <a:solidFill>
                    <a:srgbClr val="FFFFFF"/>
                  </a:solidFill>
                </a:rPr>
                <a:t>Witz · Agent</a:t>
              </a:r>
            </a:p>
          </p:txBody>
        </p:sp>
        <p:sp>
          <p:nvSpPr>
            <p:cNvPr id="11" name="arch_task_task4"/>
            <p:cNvSpPr/>
            <p:nvPr/>
          </p:nvSpPr>
          <p:spPr>
            <a:xfrm>
              <a:off x="8225396" y="4287791"/>
              <a:ext cx="1577600" cy="1445000"/>
            </a:xfrm>
            <a:prstGeom prst="roundRect">
              <a:avLst/>
            </a:prstGeom>
            <a:solidFill>
              <a:srgbClr val="E86A17"/>
            </a:solidFill>
            <a:ln w="22225">
              <a:solidFill>
                <a:srgbClr val="B4500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 dirty="0">
                  <a:solidFill>
                    <a:srgbClr val="FFFFFF"/>
                  </a:solidFill>
                </a:rPr>
                <a:t>Task4</a:t>
              </a:r>
            </a:p>
            <a:p>
              <a:pPr algn="ctr"/>
              <a:r>
                <a:rPr lang="de-DE" sz="1100" b="0" dirty="0">
                  <a:solidFill>
                    <a:srgbClr val="FFFFFF"/>
                  </a:solidFill>
                </a:rPr>
                <a:t>Müllpfadplan</a:t>
              </a:r>
              <a:r>
                <a:rPr sz="1100" b="0" dirty="0">
                  <a:solidFill>
                    <a:srgbClr val="FFFFFF"/>
                  </a:solidFill>
                </a:rPr>
                <a:t>· Agent</a:t>
              </a:r>
            </a:p>
          </p:txBody>
        </p:sp>
        <p:sp>
          <p:nvSpPr>
            <p:cNvPr id="12" name="arch_task_task5"/>
            <p:cNvSpPr/>
            <p:nvPr/>
          </p:nvSpPr>
          <p:spPr>
            <a:xfrm>
              <a:off x="10197396" y="4117791"/>
              <a:ext cx="1577600" cy="850000"/>
            </a:xfrm>
            <a:prstGeom prst="roundRect">
              <a:avLst/>
            </a:prstGeom>
            <a:solidFill>
              <a:srgbClr val="DAE3F3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 dirty="0">
                  <a:solidFill>
                    <a:srgbClr val="1F3355"/>
                  </a:solidFill>
                </a:rPr>
                <a:t>Task5</a:t>
              </a:r>
            </a:p>
            <a:p>
              <a:pPr algn="ctr"/>
              <a:r>
                <a:rPr lang="de-DE" sz="1100" dirty="0" err="1">
                  <a:solidFill>
                    <a:srgbClr val="1F3355"/>
                  </a:solidFill>
                </a:rPr>
                <a:t>Müllp</a:t>
              </a:r>
              <a:r>
                <a:rPr sz="1100" b="0" dirty="0" err="1">
                  <a:solidFill>
                    <a:srgbClr val="1F3355"/>
                  </a:solidFill>
                </a:rPr>
                <a:t>unkte</a:t>
              </a:r>
              <a:r>
                <a:rPr sz="1100" b="0" dirty="0">
                  <a:solidFill>
                    <a:srgbClr val="1F3355"/>
                  </a:solidFill>
                </a:rPr>
                <a:t> </a:t>
              </a:r>
              <a:r>
                <a:rPr sz="1100" b="0" dirty="0" err="1">
                  <a:solidFill>
                    <a:srgbClr val="1F3355"/>
                  </a:solidFill>
                </a:rPr>
                <a:t>anfahren</a:t>
              </a:r>
              <a:endParaRPr sz="1100" b="0" dirty="0">
                <a:solidFill>
                  <a:srgbClr val="1F3355"/>
                </a:solidFill>
              </a:endParaRPr>
            </a:p>
          </p:txBody>
        </p:sp>
        <p:sp>
          <p:nvSpPr>
            <p:cNvPr id="13" name="arch_task_task6"/>
            <p:cNvSpPr/>
            <p:nvPr/>
          </p:nvSpPr>
          <p:spPr>
            <a:xfrm>
              <a:off x="10197396" y="5052791"/>
              <a:ext cx="1577600" cy="849999"/>
            </a:xfrm>
            <a:prstGeom prst="roundRect">
              <a:avLst/>
            </a:prstGeom>
            <a:solidFill>
              <a:srgbClr val="DAE3F3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>
                  <a:solidFill>
                    <a:srgbClr val="1F3355"/>
                  </a:solidFill>
                </a:rPr>
                <a:t>Task6</a:t>
              </a:r>
            </a:p>
            <a:p>
              <a:pPr algn="ctr"/>
              <a:r>
                <a:rPr sz="1100" b="0">
                  <a:solidFill>
                    <a:srgbClr val="1F3355"/>
                  </a:solidFill>
                </a:rPr>
                <a:t>Abschluss-Emote</a:t>
              </a:r>
            </a:p>
          </p:txBody>
        </p:sp>
        <p:cxnSp>
          <p:nvCxnSpPr>
            <p:cNvPr id="14" name="arch_ctrl"/>
            <p:cNvCxnSpPr/>
            <p:nvPr/>
          </p:nvCxnSpPr>
          <p:spPr>
            <a:xfrm>
              <a:off x="1126196" y="3607791"/>
              <a:ext cx="0" cy="68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arch_ctrl"/>
            <p:cNvCxnSpPr/>
            <p:nvPr/>
          </p:nvCxnSpPr>
          <p:spPr>
            <a:xfrm>
              <a:off x="3098196" y="3607791"/>
              <a:ext cx="0" cy="68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arch_ctrl"/>
            <p:cNvCxnSpPr/>
            <p:nvPr/>
          </p:nvCxnSpPr>
          <p:spPr>
            <a:xfrm>
              <a:off x="5070196" y="3607791"/>
              <a:ext cx="0" cy="51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arch_ctrl"/>
            <p:cNvCxnSpPr/>
            <p:nvPr/>
          </p:nvCxnSpPr>
          <p:spPr>
            <a:xfrm>
              <a:off x="5070196" y="3607791"/>
              <a:ext cx="0" cy="1445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arch_ctrl"/>
            <p:cNvCxnSpPr/>
            <p:nvPr/>
          </p:nvCxnSpPr>
          <p:spPr>
            <a:xfrm>
              <a:off x="7042195" y="3607791"/>
              <a:ext cx="0" cy="68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arch_ctrl"/>
            <p:cNvCxnSpPr/>
            <p:nvPr/>
          </p:nvCxnSpPr>
          <p:spPr>
            <a:xfrm>
              <a:off x="9014196" y="3607791"/>
              <a:ext cx="0" cy="68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arch_ctrl"/>
            <p:cNvCxnSpPr/>
            <p:nvPr/>
          </p:nvCxnSpPr>
          <p:spPr>
            <a:xfrm>
              <a:off x="10986196" y="3607791"/>
              <a:ext cx="0" cy="51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arch_ctrl"/>
            <p:cNvCxnSpPr/>
            <p:nvPr/>
          </p:nvCxnSpPr>
          <p:spPr>
            <a:xfrm>
              <a:off x="10986196" y="3607791"/>
              <a:ext cx="0" cy="1445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arch_conn"/>
            <p:cNvCxnSpPr/>
            <p:nvPr/>
          </p:nvCxnSpPr>
          <p:spPr>
            <a:xfrm>
              <a:off x="1914996" y="5010291"/>
              <a:ext cx="394400" cy="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arch_conn"/>
            <p:cNvCxnSpPr/>
            <p:nvPr/>
          </p:nvCxnSpPr>
          <p:spPr>
            <a:xfrm flipV="1">
              <a:off x="3886996" y="4542791"/>
              <a:ext cx="394400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arch_conn"/>
            <p:cNvCxnSpPr/>
            <p:nvPr/>
          </p:nvCxnSpPr>
          <p:spPr>
            <a:xfrm>
              <a:off x="3886996" y="5010291"/>
              <a:ext cx="394400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arch_conn"/>
            <p:cNvCxnSpPr/>
            <p:nvPr/>
          </p:nvCxnSpPr>
          <p:spPr>
            <a:xfrm>
              <a:off x="5858996" y="4542791"/>
              <a:ext cx="394399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arch_conn"/>
            <p:cNvCxnSpPr/>
            <p:nvPr/>
          </p:nvCxnSpPr>
          <p:spPr>
            <a:xfrm flipV="1">
              <a:off x="5858996" y="5010291"/>
              <a:ext cx="394399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arch_conn"/>
            <p:cNvCxnSpPr/>
            <p:nvPr/>
          </p:nvCxnSpPr>
          <p:spPr>
            <a:xfrm>
              <a:off x="7830995" y="5010291"/>
              <a:ext cx="394401" cy="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arch_conn"/>
            <p:cNvCxnSpPr/>
            <p:nvPr/>
          </p:nvCxnSpPr>
          <p:spPr>
            <a:xfrm flipV="1">
              <a:off x="9802996" y="4542791"/>
              <a:ext cx="394400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arch_conn"/>
            <p:cNvCxnSpPr/>
            <p:nvPr/>
          </p:nvCxnSpPr>
          <p:spPr>
            <a:xfrm>
              <a:off x="9802996" y="5010291"/>
              <a:ext cx="394400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arch_zenoh"/>
            <p:cNvSpPr/>
            <p:nvPr/>
          </p:nvSpPr>
          <p:spPr>
            <a:xfrm>
              <a:off x="252196" y="6059755"/>
              <a:ext cx="11600000" cy="510000"/>
            </a:xfrm>
            <a:prstGeom prst="roundRect">
              <a:avLst/>
            </a:prstGeom>
            <a:solidFill>
              <a:srgbClr val="2E5496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100" b="1" dirty="0" err="1">
                  <a:solidFill>
                    <a:srgbClr val="FFFFFF"/>
                  </a:solidFill>
                </a:rPr>
                <a:t>Zenoh</a:t>
              </a:r>
              <a:r>
                <a:rPr sz="1100" b="1" dirty="0">
                  <a:solidFill>
                    <a:srgbClr val="FFFFFF"/>
                  </a:solidFill>
                </a:rPr>
                <a:t>-Bus  ·  Kamera  ·  Inference  ·  </a:t>
              </a:r>
              <a:r>
                <a:rPr sz="1100" b="1" dirty="0" err="1">
                  <a:solidFill>
                    <a:srgbClr val="FFFFFF"/>
                  </a:solidFill>
                </a:rPr>
                <a:t>Agenten</a:t>
              </a:r>
              <a:r>
                <a:rPr sz="1100" b="1" dirty="0">
                  <a:solidFill>
                    <a:srgbClr val="FFFFFF"/>
                  </a:solidFill>
                </a:rPr>
                <a:t> (</a:t>
              </a:r>
              <a:r>
                <a:rPr sz="1100" b="1" dirty="0" err="1">
                  <a:solidFill>
                    <a:srgbClr val="FFFFFF"/>
                  </a:solidFill>
                </a:rPr>
                <a:t>Ollama</a:t>
              </a:r>
              <a:r>
                <a:rPr sz="1100" b="1" dirty="0">
                  <a:solidFill>
                    <a:srgbClr val="FFFFFF"/>
                  </a:solidFill>
                </a:rPr>
                <a:t>)  ·  Navigation  ·  Robodog/Go2  ·  Mensch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01052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8CFE00-F3AE-F0E4-B9A2-2831A1EC3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Task5 und task6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6AF6A62-188B-9577-1FB0-D99638117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50000"/>
          </a:xfrm>
        </p:spPr>
        <p:txBody>
          <a:bodyPr wrap="square">
            <a:normAutofit/>
          </a:bodyPr>
          <a:lstStyle/>
          <a:p>
            <a:r>
              <a:rPr sz="1800" dirty="0"/>
              <a:t>Task5: </a:t>
            </a:r>
            <a:r>
              <a:rPr sz="1800" dirty="0" err="1"/>
              <a:t>Punkte</a:t>
            </a:r>
            <a:r>
              <a:rPr sz="1800" dirty="0"/>
              <a:t> </a:t>
            </a:r>
            <a:r>
              <a:rPr sz="1800" dirty="0" err="1"/>
              <a:t>anfahren</a:t>
            </a:r>
            <a:r>
              <a:rPr sz="1800" dirty="0"/>
              <a:t> (</a:t>
            </a:r>
            <a:r>
              <a:rPr sz="1800" dirty="0" err="1"/>
              <a:t>wie</a:t>
            </a:r>
            <a:r>
              <a:rPr sz="1800" dirty="0"/>
              <a:t> Task2_1)</a:t>
            </a:r>
          </a:p>
          <a:p>
            <a:r>
              <a:rPr sz="1800" dirty="0"/>
              <a:t>Task6: </a:t>
            </a:r>
            <a:r>
              <a:rPr lang="de-DE" sz="1800" dirty="0"/>
              <a:t>Emote an der Stelle wo Müll erkannt wurde</a:t>
            </a:r>
            <a:endParaRPr sz="1800" dirty="0"/>
          </a:p>
          <a:p>
            <a:r>
              <a:rPr sz="1800" dirty="0"/>
              <a:t>Mensch </a:t>
            </a:r>
            <a:r>
              <a:rPr sz="1800" dirty="0" err="1"/>
              <a:t>sammelt</a:t>
            </a:r>
            <a:r>
              <a:rPr sz="1800" dirty="0"/>
              <a:t> den </a:t>
            </a:r>
            <a:r>
              <a:rPr sz="1800" dirty="0" err="1"/>
              <a:t>markierten</a:t>
            </a:r>
            <a:r>
              <a:rPr sz="1800" dirty="0"/>
              <a:t> </a:t>
            </a:r>
            <a:r>
              <a:rPr sz="1800" dirty="0" err="1"/>
              <a:t>Müll</a:t>
            </a:r>
            <a:r>
              <a:rPr sz="1800" dirty="0"/>
              <a:t> </a:t>
            </a:r>
            <a:r>
              <a:rPr sz="1800" dirty="0" err="1"/>
              <a:t>ein</a:t>
            </a:r>
            <a:endParaRPr sz="1800" dirty="0"/>
          </a:p>
        </p:txBody>
      </p:sp>
      <p:grpSp>
        <p:nvGrpSpPr>
          <p:cNvPr id="4" name="arch_group">
            <a:extLst>
              <a:ext uri="{FF2B5EF4-FFF2-40B4-BE49-F238E27FC236}">
                <a16:creationId xmlns:a16="http://schemas.microsoft.com/office/drawing/2014/main" id="{8E5B778B-F3C6-0CF3-A35D-B7D4042DC6D1}"/>
              </a:ext>
            </a:extLst>
          </p:cNvPr>
          <p:cNvGrpSpPr/>
          <p:nvPr/>
        </p:nvGrpSpPr>
        <p:grpSpPr>
          <a:xfrm>
            <a:off x="1114358" y="3520000"/>
            <a:ext cx="9963283" cy="3200000"/>
            <a:chOff x="252196" y="2842791"/>
            <a:chExt cx="11604000" cy="3726964"/>
          </a:xfrm>
        </p:grpSpPr>
        <p:sp>
          <p:nvSpPr>
            <p:cNvPr id="5" name="arch_orch"/>
            <p:cNvSpPr/>
            <p:nvPr/>
          </p:nvSpPr>
          <p:spPr>
            <a:xfrm>
              <a:off x="256196" y="2842791"/>
              <a:ext cx="11600000" cy="765000"/>
            </a:xfrm>
            <a:prstGeom prst="roundRect">
              <a:avLst/>
            </a:prstGeom>
            <a:solidFill>
              <a:srgbClr val="2E5496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400" b="1" dirty="0">
                  <a:solidFill>
                    <a:srgbClr val="FFFFFF"/>
                  </a:solidFill>
                </a:rPr>
                <a:t>Orchestrator + Worker</a:t>
              </a:r>
            </a:p>
            <a:p>
              <a:pPr algn="ctr"/>
              <a:r>
                <a:rPr sz="1100" b="0" dirty="0" err="1">
                  <a:solidFill>
                    <a:srgbClr val="FFFFFF"/>
                  </a:solidFill>
                </a:rPr>
                <a:t>startet</a:t>
              </a:r>
              <a:r>
                <a:rPr sz="1100" b="0" dirty="0">
                  <a:solidFill>
                    <a:srgbClr val="FFFFFF"/>
                  </a:solidFill>
                </a:rPr>
                <a:t> &amp; </a:t>
              </a:r>
              <a:r>
                <a:rPr sz="1100" b="0" dirty="0" err="1">
                  <a:solidFill>
                    <a:srgbClr val="FFFFFF"/>
                  </a:solidFill>
                </a:rPr>
                <a:t>stoppt</a:t>
              </a:r>
              <a:r>
                <a:rPr sz="1100" b="0" dirty="0">
                  <a:solidFill>
                    <a:srgbClr val="FFFFFF"/>
                  </a:solidFill>
                </a:rPr>
                <a:t> </a:t>
              </a:r>
              <a:r>
                <a:rPr sz="1100" b="0" dirty="0" err="1">
                  <a:solidFill>
                    <a:srgbClr val="FFFFFF"/>
                  </a:solidFill>
                </a:rPr>
                <a:t>jede</a:t>
              </a:r>
              <a:r>
                <a:rPr sz="1100" b="0" dirty="0">
                  <a:solidFill>
                    <a:srgbClr val="FFFFFF"/>
                  </a:solidFill>
                </a:rPr>
                <a:t> Task · pipeline/*/start → done</a:t>
              </a:r>
            </a:p>
          </p:txBody>
        </p:sp>
        <p:sp>
          <p:nvSpPr>
            <p:cNvPr id="6" name="arch_task_task0"/>
            <p:cNvSpPr/>
            <p:nvPr/>
          </p:nvSpPr>
          <p:spPr>
            <a:xfrm>
              <a:off x="337395" y="4287791"/>
              <a:ext cx="1577600" cy="1445000"/>
            </a:xfrm>
            <a:prstGeom prst="roundRect">
              <a:avLst/>
            </a:prstGeom>
            <a:solidFill>
              <a:srgbClr val="DAE3F3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>
                  <a:solidFill>
                    <a:srgbClr val="1F3355"/>
                  </a:solidFill>
                </a:rPr>
                <a:t>Task0</a:t>
              </a:r>
            </a:p>
            <a:p>
              <a:pPr algn="ctr"/>
              <a:r>
                <a:rPr sz="1100" b="0">
                  <a:solidFill>
                    <a:srgbClr val="1F3355"/>
                  </a:solidFill>
                </a:rPr>
                <a:t>Suchfeld-Eingabe</a:t>
              </a:r>
            </a:p>
          </p:txBody>
        </p:sp>
        <p:sp>
          <p:nvSpPr>
            <p:cNvPr id="7" name="arch_task_task1"/>
            <p:cNvSpPr/>
            <p:nvPr/>
          </p:nvSpPr>
          <p:spPr>
            <a:xfrm>
              <a:off x="2309396" y="4287791"/>
              <a:ext cx="1577600" cy="1445000"/>
            </a:xfrm>
            <a:prstGeom prst="roundRect">
              <a:avLst/>
            </a:prstGeom>
            <a:solidFill>
              <a:srgbClr val="DAE3F3"/>
            </a:solidFill>
            <a:ln w="22225">
              <a:solidFill>
                <a:srgbClr val="2E8B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>
                  <a:solidFill>
                    <a:srgbClr val="1F3355"/>
                  </a:solidFill>
                </a:rPr>
                <a:t>Task1</a:t>
              </a:r>
            </a:p>
            <a:p>
              <a:pPr algn="ctr"/>
              <a:r>
                <a:rPr sz="1100" b="0">
                  <a:solidFill>
                    <a:srgbClr val="1F3355"/>
                  </a:solidFill>
                </a:rPr>
                <a:t>Pfadplan · Agent</a:t>
              </a:r>
            </a:p>
          </p:txBody>
        </p:sp>
        <p:sp>
          <p:nvSpPr>
            <p:cNvPr id="8" name="arch_task_task2_1"/>
            <p:cNvSpPr/>
            <p:nvPr/>
          </p:nvSpPr>
          <p:spPr>
            <a:xfrm>
              <a:off x="4281396" y="4117791"/>
              <a:ext cx="1577600" cy="850000"/>
            </a:xfrm>
            <a:prstGeom prst="roundRect">
              <a:avLst/>
            </a:prstGeom>
            <a:solidFill>
              <a:srgbClr val="DAE3F3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>
                  <a:solidFill>
                    <a:srgbClr val="1F3355"/>
                  </a:solidFill>
                </a:rPr>
                <a:t>Task2_1</a:t>
              </a:r>
            </a:p>
            <a:p>
              <a:pPr algn="ctr"/>
              <a:r>
                <a:rPr sz="1100" b="0">
                  <a:solidFill>
                    <a:srgbClr val="1F3355"/>
                  </a:solidFill>
                </a:rPr>
                <a:t>Pfad abfahren</a:t>
              </a:r>
            </a:p>
          </p:txBody>
        </p:sp>
        <p:sp>
          <p:nvSpPr>
            <p:cNvPr id="9" name="arch_task_task2_2"/>
            <p:cNvSpPr/>
            <p:nvPr/>
          </p:nvSpPr>
          <p:spPr>
            <a:xfrm>
              <a:off x="4281396" y="5052791"/>
              <a:ext cx="1577600" cy="849999"/>
            </a:xfrm>
            <a:prstGeom prst="roundRect">
              <a:avLst/>
            </a:prstGeom>
            <a:solidFill>
              <a:srgbClr val="DAE3F3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>
                  <a:solidFill>
                    <a:srgbClr val="1F3355"/>
                  </a:solidFill>
                </a:rPr>
                <a:t>Task2_2</a:t>
              </a:r>
            </a:p>
            <a:p>
              <a:pPr algn="ctr"/>
              <a:r>
                <a:rPr sz="1100" b="0">
                  <a:solidFill>
                    <a:srgbClr val="1F3355"/>
                  </a:solidFill>
                </a:rPr>
                <a:t>Detektion + Validierung</a:t>
              </a:r>
            </a:p>
          </p:txBody>
        </p:sp>
        <p:sp>
          <p:nvSpPr>
            <p:cNvPr id="10" name="arch_task_task3"/>
            <p:cNvSpPr/>
            <p:nvPr/>
          </p:nvSpPr>
          <p:spPr>
            <a:xfrm>
              <a:off x="6253395" y="4287791"/>
              <a:ext cx="1577600" cy="1445000"/>
            </a:xfrm>
            <a:prstGeom prst="roundRect">
              <a:avLst/>
            </a:prstGeom>
            <a:solidFill>
              <a:srgbClr val="DAE3F3"/>
            </a:solidFill>
            <a:ln w="22225">
              <a:solidFill>
                <a:srgbClr val="2E8B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>
                  <a:solidFill>
                    <a:srgbClr val="1F3355"/>
                  </a:solidFill>
                </a:rPr>
                <a:t>Task3</a:t>
              </a:r>
            </a:p>
            <a:p>
              <a:pPr algn="ctr"/>
              <a:r>
                <a:rPr sz="1100" b="0">
                  <a:solidFill>
                    <a:srgbClr val="1F3355"/>
                  </a:solidFill>
                </a:rPr>
                <a:t>Witz · Agent</a:t>
              </a:r>
            </a:p>
          </p:txBody>
        </p:sp>
        <p:sp>
          <p:nvSpPr>
            <p:cNvPr id="11" name="arch_task_task4"/>
            <p:cNvSpPr/>
            <p:nvPr/>
          </p:nvSpPr>
          <p:spPr>
            <a:xfrm>
              <a:off x="8225396" y="4287791"/>
              <a:ext cx="1577600" cy="1445000"/>
            </a:xfrm>
            <a:prstGeom prst="roundRect">
              <a:avLst/>
            </a:prstGeom>
            <a:solidFill>
              <a:srgbClr val="DAE3F3"/>
            </a:solidFill>
            <a:ln w="22225">
              <a:solidFill>
                <a:srgbClr val="2E8B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 dirty="0">
                  <a:solidFill>
                    <a:srgbClr val="1F3355"/>
                  </a:solidFill>
                </a:rPr>
                <a:t>Task4</a:t>
              </a:r>
            </a:p>
            <a:p>
              <a:pPr algn="ctr"/>
              <a:r>
                <a:rPr lang="de-DE" sz="1100" b="0" dirty="0">
                  <a:solidFill>
                    <a:srgbClr val="1F3355"/>
                  </a:solidFill>
                </a:rPr>
                <a:t>Müllpfadplan</a:t>
              </a:r>
              <a:r>
                <a:rPr sz="1100" b="0" dirty="0">
                  <a:solidFill>
                    <a:srgbClr val="1F3355"/>
                  </a:solidFill>
                </a:rPr>
                <a:t>· Agent</a:t>
              </a:r>
            </a:p>
          </p:txBody>
        </p:sp>
        <p:sp>
          <p:nvSpPr>
            <p:cNvPr id="12" name="arch_task_task5"/>
            <p:cNvSpPr/>
            <p:nvPr/>
          </p:nvSpPr>
          <p:spPr>
            <a:xfrm>
              <a:off x="10197396" y="4117791"/>
              <a:ext cx="1577600" cy="850000"/>
            </a:xfrm>
            <a:prstGeom prst="roundRect">
              <a:avLst/>
            </a:prstGeom>
            <a:solidFill>
              <a:srgbClr val="E86A17"/>
            </a:solidFill>
            <a:ln w="15875">
              <a:solidFill>
                <a:srgbClr val="B4500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 dirty="0">
                  <a:solidFill>
                    <a:srgbClr val="FFFFFF"/>
                  </a:solidFill>
                </a:rPr>
                <a:t>Task5</a:t>
              </a:r>
            </a:p>
            <a:p>
              <a:pPr algn="ctr"/>
              <a:r>
                <a:rPr lang="de-DE" sz="1100" dirty="0" err="1">
                  <a:solidFill>
                    <a:srgbClr val="FFFFFF"/>
                  </a:solidFill>
                </a:rPr>
                <a:t>Müllp</a:t>
              </a:r>
              <a:r>
                <a:rPr sz="1100" b="0" dirty="0" err="1">
                  <a:solidFill>
                    <a:srgbClr val="FFFFFF"/>
                  </a:solidFill>
                </a:rPr>
                <a:t>unkte</a:t>
              </a:r>
              <a:r>
                <a:rPr sz="1100" b="0" dirty="0">
                  <a:solidFill>
                    <a:srgbClr val="FFFFFF"/>
                  </a:solidFill>
                </a:rPr>
                <a:t> </a:t>
              </a:r>
              <a:r>
                <a:rPr sz="1100" b="0" dirty="0" err="1">
                  <a:solidFill>
                    <a:srgbClr val="FFFFFF"/>
                  </a:solidFill>
                </a:rPr>
                <a:t>anfahren</a:t>
              </a:r>
              <a:endParaRPr sz="1100" b="0" dirty="0">
                <a:solidFill>
                  <a:srgbClr val="1F3355"/>
                </a:solidFill>
              </a:endParaRPr>
            </a:p>
          </p:txBody>
        </p:sp>
        <p:sp>
          <p:nvSpPr>
            <p:cNvPr id="13" name="arch_task_task6"/>
            <p:cNvSpPr/>
            <p:nvPr/>
          </p:nvSpPr>
          <p:spPr>
            <a:xfrm>
              <a:off x="10197396" y="5052791"/>
              <a:ext cx="1577600" cy="849999"/>
            </a:xfrm>
            <a:prstGeom prst="roundRect">
              <a:avLst/>
            </a:prstGeom>
            <a:solidFill>
              <a:srgbClr val="E86A17"/>
            </a:solidFill>
            <a:ln w="15875">
              <a:solidFill>
                <a:srgbClr val="B4500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300" b="1">
                  <a:solidFill>
                    <a:srgbClr val="FFFFFF"/>
                  </a:solidFill>
                </a:rPr>
                <a:t>Task6</a:t>
              </a:r>
            </a:p>
            <a:p>
              <a:pPr algn="ctr"/>
              <a:r>
                <a:rPr sz="1100" b="0">
                  <a:solidFill>
                    <a:srgbClr val="FFFFFF"/>
                  </a:solidFill>
                </a:rPr>
                <a:t>Abschluss-Emote</a:t>
              </a:r>
            </a:p>
          </p:txBody>
        </p:sp>
        <p:cxnSp>
          <p:nvCxnSpPr>
            <p:cNvPr id="14" name="arch_ctrl"/>
            <p:cNvCxnSpPr/>
            <p:nvPr/>
          </p:nvCxnSpPr>
          <p:spPr>
            <a:xfrm>
              <a:off x="1126196" y="3607791"/>
              <a:ext cx="0" cy="68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arch_ctrl"/>
            <p:cNvCxnSpPr/>
            <p:nvPr/>
          </p:nvCxnSpPr>
          <p:spPr>
            <a:xfrm>
              <a:off x="3098196" y="3607791"/>
              <a:ext cx="0" cy="68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arch_ctrl"/>
            <p:cNvCxnSpPr/>
            <p:nvPr/>
          </p:nvCxnSpPr>
          <p:spPr>
            <a:xfrm>
              <a:off x="5070196" y="3607791"/>
              <a:ext cx="0" cy="51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arch_ctrl"/>
            <p:cNvCxnSpPr/>
            <p:nvPr/>
          </p:nvCxnSpPr>
          <p:spPr>
            <a:xfrm>
              <a:off x="5070196" y="3607791"/>
              <a:ext cx="0" cy="1445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arch_ctrl"/>
            <p:cNvCxnSpPr/>
            <p:nvPr/>
          </p:nvCxnSpPr>
          <p:spPr>
            <a:xfrm>
              <a:off x="7042195" y="3607791"/>
              <a:ext cx="0" cy="68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arch_ctrl"/>
            <p:cNvCxnSpPr/>
            <p:nvPr/>
          </p:nvCxnSpPr>
          <p:spPr>
            <a:xfrm>
              <a:off x="9014196" y="3607791"/>
              <a:ext cx="0" cy="68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arch_ctrl"/>
            <p:cNvCxnSpPr/>
            <p:nvPr/>
          </p:nvCxnSpPr>
          <p:spPr>
            <a:xfrm>
              <a:off x="10986196" y="3607791"/>
              <a:ext cx="0" cy="510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arch_ctrl"/>
            <p:cNvCxnSpPr/>
            <p:nvPr/>
          </p:nvCxnSpPr>
          <p:spPr>
            <a:xfrm>
              <a:off x="10986196" y="3607791"/>
              <a:ext cx="0" cy="1445000"/>
            </a:xfrm>
            <a:prstGeom prst="line">
              <a:avLst/>
            </a:prstGeom>
            <a:ln w="9525">
              <a:solidFill>
                <a:srgbClr val="A6A6A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arch_conn"/>
            <p:cNvCxnSpPr/>
            <p:nvPr/>
          </p:nvCxnSpPr>
          <p:spPr>
            <a:xfrm>
              <a:off x="1914996" y="5010291"/>
              <a:ext cx="394400" cy="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arch_conn"/>
            <p:cNvCxnSpPr/>
            <p:nvPr/>
          </p:nvCxnSpPr>
          <p:spPr>
            <a:xfrm flipV="1">
              <a:off x="3886996" y="4542791"/>
              <a:ext cx="394400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arch_conn"/>
            <p:cNvCxnSpPr/>
            <p:nvPr/>
          </p:nvCxnSpPr>
          <p:spPr>
            <a:xfrm>
              <a:off x="3886996" y="5010291"/>
              <a:ext cx="394400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arch_conn"/>
            <p:cNvCxnSpPr/>
            <p:nvPr/>
          </p:nvCxnSpPr>
          <p:spPr>
            <a:xfrm>
              <a:off x="5858996" y="4542791"/>
              <a:ext cx="394399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arch_conn"/>
            <p:cNvCxnSpPr/>
            <p:nvPr/>
          </p:nvCxnSpPr>
          <p:spPr>
            <a:xfrm flipV="1">
              <a:off x="5858996" y="5010291"/>
              <a:ext cx="394399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arch_conn"/>
            <p:cNvCxnSpPr/>
            <p:nvPr/>
          </p:nvCxnSpPr>
          <p:spPr>
            <a:xfrm>
              <a:off x="7830995" y="5010291"/>
              <a:ext cx="394401" cy="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arch_conn"/>
            <p:cNvCxnSpPr/>
            <p:nvPr/>
          </p:nvCxnSpPr>
          <p:spPr>
            <a:xfrm flipV="1">
              <a:off x="9802996" y="4542791"/>
              <a:ext cx="394400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arch_conn"/>
            <p:cNvCxnSpPr/>
            <p:nvPr/>
          </p:nvCxnSpPr>
          <p:spPr>
            <a:xfrm>
              <a:off x="9802996" y="5010291"/>
              <a:ext cx="394400" cy="467500"/>
            </a:xfrm>
            <a:prstGeom prst="line">
              <a:avLst/>
            </a:prstGeom>
            <a:ln w="1905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arch_zenoh"/>
            <p:cNvSpPr/>
            <p:nvPr/>
          </p:nvSpPr>
          <p:spPr>
            <a:xfrm>
              <a:off x="252196" y="6059755"/>
              <a:ext cx="11600000" cy="510000"/>
            </a:xfrm>
            <a:prstGeom prst="roundRect">
              <a:avLst/>
            </a:prstGeom>
            <a:solidFill>
              <a:srgbClr val="2E5496"/>
            </a:solidFill>
            <a:ln w="15875">
              <a:solidFill>
                <a:srgbClr val="2E549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000" tIns="12000" rIns="12000" bIns="12000" rtlCol="0" anchor="ctr"/>
            <a:lstStyle/>
            <a:p>
              <a:pPr algn="ctr"/>
              <a:r>
                <a:rPr sz="1100" b="1" dirty="0" err="1">
                  <a:solidFill>
                    <a:srgbClr val="FFFFFF"/>
                  </a:solidFill>
                </a:rPr>
                <a:t>Zenoh</a:t>
              </a:r>
              <a:r>
                <a:rPr sz="1100" b="1" dirty="0">
                  <a:solidFill>
                    <a:srgbClr val="FFFFFF"/>
                  </a:solidFill>
                </a:rPr>
                <a:t>-Bus  ·  Kamera  ·  Inference  ·  </a:t>
              </a:r>
              <a:r>
                <a:rPr sz="1100" b="1" dirty="0" err="1">
                  <a:solidFill>
                    <a:srgbClr val="FFFFFF"/>
                  </a:solidFill>
                </a:rPr>
                <a:t>Agenten</a:t>
              </a:r>
              <a:r>
                <a:rPr sz="1100" b="1" dirty="0">
                  <a:solidFill>
                    <a:srgbClr val="FFFFFF"/>
                  </a:solidFill>
                </a:rPr>
                <a:t> (</a:t>
              </a:r>
              <a:r>
                <a:rPr sz="1100" b="1" dirty="0" err="1">
                  <a:solidFill>
                    <a:srgbClr val="FFFFFF"/>
                  </a:solidFill>
                </a:rPr>
                <a:t>Ollama</a:t>
              </a:r>
              <a:r>
                <a:rPr sz="1100" b="1" dirty="0">
                  <a:solidFill>
                    <a:srgbClr val="FFFFFF"/>
                  </a:solidFill>
                </a:rPr>
                <a:t>)  ·  Navigation  ·  Robodog/Go2  ·  Mensch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738316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189C71-9EF5-87AF-A8CC-0BA45B8C1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Reflektion zum Einsatz von KI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69ADFC2-8699-0DFC-A722-10BA9A7BB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lang="de-DE" sz="2000" dirty="0"/>
              <a:t>KI wurde viel für das Programmieren verwendet</a:t>
            </a:r>
          </a:p>
          <a:p>
            <a:r>
              <a:rPr lang="de-DE" sz="2000" dirty="0"/>
              <a:t>Nicht alle Agenten sind zwingend sinnvoll gewesen</a:t>
            </a:r>
          </a:p>
          <a:p>
            <a:r>
              <a:rPr lang="de-DE" sz="2000" dirty="0"/>
              <a:t>Mangelnde Genauigkeit in den Prompts hat zu Ineffizientes geführt</a:t>
            </a:r>
          </a:p>
        </p:txBody>
      </p:sp>
    </p:spTree>
    <p:extLst>
      <p:ext uri="{BB962C8B-B14F-4D97-AF65-F5344CB8AC3E}">
        <p14:creationId xmlns:p14="http://schemas.microsoft.com/office/powerpoint/2010/main" val="408496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33695C-8CB6-AB3C-AFE3-694928B86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Aussicht was verbessern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AD3FBF-2C4D-3CF2-3595-72724E42F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000" dirty="0"/>
              <a:t>Modell </a:t>
            </a:r>
            <a:r>
              <a:rPr sz="2000" dirty="0" err="1"/>
              <a:t>verbessern</a:t>
            </a:r>
            <a:r>
              <a:rPr sz="2000" dirty="0"/>
              <a:t>, </a:t>
            </a:r>
            <a:r>
              <a:rPr sz="2000" dirty="0" err="1"/>
              <a:t>v.a.</a:t>
            </a:r>
            <a:r>
              <a:rPr sz="2000" dirty="0"/>
              <a:t> </a:t>
            </a:r>
            <a:r>
              <a:rPr sz="2000" dirty="0" err="1"/>
              <a:t>bei</a:t>
            </a:r>
            <a:r>
              <a:rPr sz="2000" dirty="0"/>
              <a:t> </a:t>
            </a:r>
            <a:r>
              <a:rPr sz="2000" dirty="0" err="1"/>
              <a:t>Unschärfe</a:t>
            </a:r>
            <a:endParaRPr lang="de-DE" dirty="0"/>
          </a:p>
          <a:p>
            <a:r>
              <a:rPr sz="2000" dirty="0" err="1"/>
              <a:t>Tiefenwerte</a:t>
            </a:r>
            <a:r>
              <a:rPr sz="2000" dirty="0"/>
              <a:t> </a:t>
            </a:r>
            <a:r>
              <a:rPr sz="2000" dirty="0" err="1"/>
              <a:t>für</a:t>
            </a:r>
            <a:r>
              <a:rPr sz="2000" dirty="0"/>
              <a:t> </a:t>
            </a:r>
            <a:r>
              <a:rPr sz="2000" dirty="0" err="1"/>
              <a:t>genauere</a:t>
            </a:r>
            <a:r>
              <a:rPr sz="2000" dirty="0"/>
              <a:t> Mu</a:t>
            </a:r>
            <a:r>
              <a:rPr lang="de-DE" sz="2000" dirty="0"/>
              <a:t>ü</a:t>
            </a:r>
            <a:r>
              <a:rPr sz="2000" dirty="0" err="1"/>
              <a:t>ll-Positionsbestimmung</a:t>
            </a:r>
            <a:endParaRPr sz="2000" dirty="0"/>
          </a:p>
          <a:p>
            <a:r>
              <a:rPr sz="2000" dirty="0"/>
              <a:t>Hund </a:t>
            </a:r>
            <a:r>
              <a:rPr sz="2000" dirty="0" err="1"/>
              <a:t>schaut</a:t>
            </a:r>
            <a:r>
              <a:rPr sz="2000" dirty="0"/>
              <a:t> </a:t>
            </a:r>
            <a:r>
              <a:rPr sz="2000" dirty="0" err="1"/>
              <a:t>beim</a:t>
            </a:r>
            <a:r>
              <a:rPr sz="2000" dirty="0"/>
              <a:t> Emote in </a:t>
            </a:r>
            <a:r>
              <a:rPr sz="2000" dirty="0" err="1"/>
              <a:t>Richtung</a:t>
            </a:r>
            <a:r>
              <a:rPr sz="2000" dirty="0"/>
              <a:t> </a:t>
            </a:r>
            <a:r>
              <a:rPr sz="2000" dirty="0" err="1"/>
              <a:t>Müll</a:t>
            </a:r>
            <a:endParaRPr sz="2000" dirty="0"/>
          </a:p>
          <a:p>
            <a:r>
              <a:rPr sz="2000" dirty="0"/>
              <a:t>Obstacle-Avoidance + </a:t>
            </a:r>
            <a:r>
              <a:rPr sz="2000" dirty="0" err="1"/>
              <a:t>besseres</a:t>
            </a:r>
            <a:r>
              <a:rPr sz="2000" dirty="0"/>
              <a:t> </a:t>
            </a:r>
            <a:r>
              <a:rPr sz="2000" dirty="0" err="1"/>
              <a:t>Validierungsmodell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7752575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chaltkreis">
  <a:themeElements>
    <a:clrScheme name="Schaltkreis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Schaltkreis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chaltkreis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TM04033919[[fn=Schaltkreis]]</Template>
  <TotalTime>0</TotalTime>
  <Words>812</Words>
  <Application>Microsoft Office PowerPoint</Application>
  <PresentationFormat>Breitbild</PresentationFormat>
  <Paragraphs>186</Paragraphs>
  <Slides>12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Consolas</vt:lpstr>
      <vt:lpstr>Tw Cen MT</vt:lpstr>
      <vt:lpstr>Schaltkreis</vt:lpstr>
      <vt:lpstr>Litter Detection Gruppe Daniel, Felix , Jonas</vt:lpstr>
      <vt:lpstr>Agenda</vt:lpstr>
      <vt:lpstr>Erste Idee und Planen der Tasks</vt:lpstr>
      <vt:lpstr>Gewählte Architektur</vt:lpstr>
      <vt:lpstr>Gewählte Architektur</vt:lpstr>
      <vt:lpstr>Task0 und Task1</vt:lpstr>
      <vt:lpstr>Task2_1 und Task2_2</vt:lpstr>
      <vt:lpstr>Task2_1 und Task2_2</vt:lpstr>
      <vt:lpstr>Task3 und Task4</vt:lpstr>
      <vt:lpstr>Task5 und task6</vt:lpstr>
      <vt:lpstr>Reflektion zum Einsatz von KI</vt:lpstr>
      <vt:lpstr>Aussicht was verbessern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Jonas Schweiss</dc:creator>
  <cp:lastModifiedBy>Jonas Schweiss</cp:lastModifiedBy>
  <cp:revision>4</cp:revision>
  <dcterms:created xsi:type="dcterms:W3CDTF">2026-06-21T10:38:34Z</dcterms:created>
  <dcterms:modified xsi:type="dcterms:W3CDTF">2026-06-24T18:59:45Z</dcterms:modified>
</cp:coreProperties>
</file>